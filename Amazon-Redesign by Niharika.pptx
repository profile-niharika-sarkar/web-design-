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Inter" panose="020B0502030000000004" pitchFamily="34" charset="0"/>
      <p:regular r:id="rId8"/>
      <p:bold r:id="rId9"/>
      <p:italic r:id="rId10"/>
      <p:boldItalic r:id="rId11"/>
    </p:embeddedFont>
    <p:embeddedFont>
      <p:font typeface="Inter Bold" panose="020B0604020202020204" charset="0"/>
      <p:regular r:id="rId12"/>
    </p:embeddedFont>
    <p:embeddedFont>
      <p:font typeface="Inter Medium" panose="020B0602030000000004" pitchFamily="34" charset="0"/>
      <p:regular r:id="rId13"/>
      <p:italic r:id="rId14"/>
    </p:embeddedFont>
    <p:embeddedFont>
      <p:font typeface="Inter Semi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sv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1.svg"/><Relationship Id="rId18" Type="http://schemas.openxmlformats.org/officeDocument/2006/relationships/image" Target="../media/image2.png"/><Relationship Id="rId3" Type="http://schemas.openxmlformats.org/officeDocument/2006/relationships/image" Target="../media/image12.svg"/><Relationship Id="rId7" Type="http://schemas.openxmlformats.org/officeDocument/2006/relationships/image" Target="../media/image7.svg"/><Relationship Id="rId12" Type="http://schemas.openxmlformats.org/officeDocument/2006/relationships/image" Target="../media/image20.svg"/><Relationship Id="rId17" Type="http://schemas.openxmlformats.org/officeDocument/2006/relationships/image" Target="../media/image3.png"/><Relationship Id="rId2" Type="http://schemas.openxmlformats.org/officeDocument/2006/relationships/image" Target="../media/image9.png"/><Relationship Id="rId16" Type="http://schemas.openxmlformats.org/officeDocument/2006/relationships/image" Target="../media/image4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9.svg"/><Relationship Id="rId5" Type="http://schemas.openxmlformats.org/officeDocument/2006/relationships/image" Target="../media/image6.svg"/><Relationship Id="rId15" Type="http://schemas.openxmlformats.org/officeDocument/2006/relationships/image" Target="../media/image5.png"/><Relationship Id="rId10" Type="http://schemas.openxmlformats.org/officeDocument/2006/relationships/image" Target="../media/image1.svg"/><Relationship Id="rId19" Type="http://schemas.openxmlformats.org/officeDocument/2006/relationships/image" Target="../media/image23.png"/><Relationship Id="rId4" Type="http://schemas.openxmlformats.org/officeDocument/2006/relationships/image" Target="../media/image16.svg"/><Relationship Id="rId9" Type="http://schemas.openxmlformats.org/officeDocument/2006/relationships/image" Target="../media/image18.png"/><Relationship Id="rId14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3.svg"/><Relationship Id="rId7" Type="http://schemas.openxmlformats.org/officeDocument/2006/relationships/image" Target="../media/image36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42.svg"/><Relationship Id="rId18" Type="http://schemas.openxmlformats.org/officeDocument/2006/relationships/image" Target="../media/image46.png"/><Relationship Id="rId3" Type="http://schemas.openxmlformats.org/officeDocument/2006/relationships/image" Target="../media/image8.png"/><Relationship Id="rId7" Type="http://schemas.openxmlformats.org/officeDocument/2006/relationships/image" Target="../media/image20.svg"/><Relationship Id="rId12" Type="http://schemas.openxmlformats.org/officeDocument/2006/relationships/image" Target="../media/image41.svg"/><Relationship Id="rId17" Type="http://schemas.openxmlformats.org/officeDocument/2006/relationships/image" Target="../media/image9.png"/><Relationship Id="rId2" Type="http://schemas.openxmlformats.org/officeDocument/2006/relationships/image" Target="../media/image6.svg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40.svg"/><Relationship Id="rId5" Type="http://schemas.openxmlformats.org/officeDocument/2006/relationships/image" Target="../media/image39.svg"/><Relationship Id="rId15" Type="http://schemas.openxmlformats.org/officeDocument/2006/relationships/image" Target="../media/image44.svg"/><Relationship Id="rId10" Type="http://schemas.openxmlformats.org/officeDocument/2006/relationships/image" Target="../media/image32.svg"/><Relationship Id="rId4" Type="http://schemas.openxmlformats.org/officeDocument/2006/relationships/image" Target="../media/image38.svg"/><Relationship Id="rId9" Type="http://schemas.openxmlformats.org/officeDocument/2006/relationships/image" Target="../media/image22.svg"/><Relationship Id="rId14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F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3339630" cy="1693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39629" cy="1693333"/>
            </a:xfrm>
            <a:custGeom>
              <a:avLst/>
              <a:gdLst/>
              <a:ahLst/>
              <a:cxnLst/>
              <a:rect l="l" t="t" r="r" b="b"/>
              <a:pathLst>
                <a:path w="3339629" h="1693333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1684017"/>
                  </a:lnTo>
                  <a:cubicBezTo>
                    <a:pt x="3339629" y="1689162"/>
                    <a:pt x="3335458" y="1693333"/>
                    <a:pt x="3330313" y="1693333"/>
                  </a:cubicBezTo>
                  <a:lnTo>
                    <a:pt x="9316" y="1693333"/>
                  </a:lnTo>
                  <a:cubicBezTo>
                    <a:pt x="4171" y="1693333"/>
                    <a:pt x="0" y="1689162"/>
                    <a:pt x="0" y="1684017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solidFill>
              <a:srgbClr val="28375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39630" cy="1740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199527" y="8398813"/>
            <a:ext cx="321309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EFFFC"/>
                </a:solidFill>
                <a:latin typeface="Inter Medium"/>
                <a:ea typeface="Inter Medium"/>
                <a:cs typeface="Inter Medium"/>
                <a:sym typeface="Inter Medium"/>
              </a:rPr>
              <a:t>Prepared by: Niharika Sarkar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049127" y="2743568"/>
            <a:ext cx="12189746" cy="4799865"/>
            <a:chOff x="0" y="0"/>
            <a:chExt cx="16252995" cy="6399819"/>
          </a:xfrm>
        </p:grpSpPr>
        <p:sp>
          <p:nvSpPr>
            <p:cNvPr id="7" name="TextBox 7"/>
            <p:cNvSpPr txBox="1"/>
            <p:nvPr/>
          </p:nvSpPr>
          <p:spPr>
            <a:xfrm>
              <a:off x="3068834" y="0"/>
              <a:ext cx="10115327" cy="1701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4200" b="1" spc="235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SAFFRON INTERACTIVE DESIGN ASSIGNMENT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281844"/>
              <a:ext cx="16252995" cy="587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99"/>
                </a:lnSpc>
              </a:pPr>
              <a:r>
                <a:rPr lang="en-US" sz="2999" b="1">
                  <a:solidFill>
                    <a:srgbClr val="FF8C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Amazon Logistics Learning Experience Redesign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942494"/>
              <a:ext cx="16252995" cy="1457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19"/>
                </a:lnSpc>
              </a:pPr>
              <a:r>
                <a:rPr lang="en-US" sz="3599" b="1">
                  <a:solidFill>
                    <a:srgbClr val="FEFF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Modernize the learning UI, improve responsiveness, and create a more engaging Amazon-inspired experience.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11896" y="3450244"/>
              <a:ext cx="6629203" cy="930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78"/>
                </a:lnSpc>
              </a:pPr>
              <a:r>
                <a:rPr lang="en-US" sz="4648" b="1">
                  <a:solidFill>
                    <a:srgbClr val="FCFFF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OBJECTIVE: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C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49478" y="463696"/>
            <a:ext cx="11253535" cy="9359608"/>
            <a:chOff x="0" y="0"/>
            <a:chExt cx="2485829" cy="20674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5829" cy="2067474"/>
            </a:xfrm>
            <a:custGeom>
              <a:avLst/>
              <a:gdLst/>
              <a:ahLst/>
              <a:cxnLst/>
              <a:rect l="l" t="t" r="r" b="b"/>
              <a:pathLst>
                <a:path w="2485829" h="2067474">
                  <a:moveTo>
                    <a:pt x="13437" y="0"/>
                  </a:moveTo>
                  <a:lnTo>
                    <a:pt x="2472393" y="0"/>
                  </a:lnTo>
                  <a:cubicBezTo>
                    <a:pt x="2479814" y="0"/>
                    <a:pt x="2485829" y="6016"/>
                    <a:pt x="2485829" y="13437"/>
                  </a:cubicBezTo>
                  <a:lnTo>
                    <a:pt x="2485829" y="2054037"/>
                  </a:lnTo>
                  <a:cubicBezTo>
                    <a:pt x="2485829" y="2061458"/>
                    <a:pt x="2479814" y="2067474"/>
                    <a:pt x="2472393" y="2067474"/>
                  </a:cubicBezTo>
                  <a:lnTo>
                    <a:pt x="13437" y="2067474"/>
                  </a:lnTo>
                  <a:cubicBezTo>
                    <a:pt x="6016" y="2067474"/>
                    <a:pt x="0" y="2061458"/>
                    <a:pt x="0" y="2054037"/>
                  </a:cubicBezTo>
                  <a:lnTo>
                    <a:pt x="0" y="13437"/>
                  </a:lnTo>
                  <a:cubicBezTo>
                    <a:pt x="0" y="6016"/>
                    <a:pt x="6016" y="0"/>
                    <a:pt x="13437" y="0"/>
                  </a:cubicBezTo>
                  <a:close/>
                </a:path>
              </a:pathLst>
            </a:custGeom>
            <a:solidFill>
              <a:srgbClr val="0F172A"/>
            </a:solidFill>
            <a:ln w="38100" cap="rnd">
              <a:solidFill>
                <a:srgbClr val="0F172A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85829" cy="2115099"/>
            </a:xfrm>
            <a:prstGeom prst="rect">
              <a:avLst/>
            </a:prstGeom>
          </p:spPr>
          <p:txBody>
            <a:bodyPr lIns="47320" tIns="47320" rIns="47320" bIns="47320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37815" y="4497193"/>
            <a:ext cx="2562362" cy="4164804"/>
            <a:chOff x="0" y="0"/>
            <a:chExt cx="566008" cy="9199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6008" cy="919977"/>
            </a:xfrm>
            <a:custGeom>
              <a:avLst/>
              <a:gdLst/>
              <a:ahLst/>
              <a:cxnLst/>
              <a:rect l="l" t="t" r="r" b="b"/>
              <a:pathLst>
                <a:path w="566008" h="919977">
                  <a:moveTo>
                    <a:pt x="28326" y="0"/>
                  </a:moveTo>
                  <a:lnTo>
                    <a:pt x="537683" y="0"/>
                  </a:lnTo>
                  <a:cubicBezTo>
                    <a:pt x="553327" y="0"/>
                    <a:pt x="566008" y="12682"/>
                    <a:pt x="566008" y="28326"/>
                  </a:cubicBezTo>
                  <a:lnTo>
                    <a:pt x="566008" y="891651"/>
                  </a:lnTo>
                  <a:cubicBezTo>
                    <a:pt x="566008" y="907295"/>
                    <a:pt x="553327" y="919977"/>
                    <a:pt x="537683" y="919977"/>
                  </a:cubicBezTo>
                  <a:lnTo>
                    <a:pt x="28326" y="919977"/>
                  </a:lnTo>
                  <a:cubicBezTo>
                    <a:pt x="12682" y="919977"/>
                    <a:pt x="0" y="907295"/>
                    <a:pt x="0" y="891651"/>
                  </a:cubicBezTo>
                  <a:lnTo>
                    <a:pt x="0" y="28326"/>
                  </a:lnTo>
                  <a:cubicBezTo>
                    <a:pt x="0" y="12682"/>
                    <a:pt x="12682" y="0"/>
                    <a:pt x="28326" y="0"/>
                  </a:cubicBezTo>
                  <a:close/>
                </a:path>
              </a:pathLst>
            </a:custGeom>
            <a:solidFill>
              <a:srgbClr val="283755"/>
            </a:solidFill>
            <a:ln w="38100" cap="sq">
              <a:solidFill>
                <a:srgbClr val="23303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66008" cy="967602"/>
            </a:xfrm>
            <a:prstGeom prst="rect">
              <a:avLst/>
            </a:prstGeom>
          </p:spPr>
          <p:txBody>
            <a:bodyPr lIns="47320" tIns="47320" rIns="47320" bIns="47320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59882" y="4532351"/>
            <a:ext cx="2562362" cy="4164804"/>
            <a:chOff x="0" y="0"/>
            <a:chExt cx="566008" cy="9199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6008" cy="919977"/>
            </a:xfrm>
            <a:custGeom>
              <a:avLst/>
              <a:gdLst/>
              <a:ahLst/>
              <a:cxnLst/>
              <a:rect l="l" t="t" r="r" b="b"/>
              <a:pathLst>
                <a:path w="566008" h="919977">
                  <a:moveTo>
                    <a:pt x="28326" y="0"/>
                  </a:moveTo>
                  <a:lnTo>
                    <a:pt x="537683" y="0"/>
                  </a:lnTo>
                  <a:cubicBezTo>
                    <a:pt x="553327" y="0"/>
                    <a:pt x="566008" y="12682"/>
                    <a:pt x="566008" y="28326"/>
                  </a:cubicBezTo>
                  <a:lnTo>
                    <a:pt x="566008" y="891651"/>
                  </a:lnTo>
                  <a:cubicBezTo>
                    <a:pt x="566008" y="907295"/>
                    <a:pt x="553327" y="919977"/>
                    <a:pt x="537683" y="919977"/>
                  </a:cubicBezTo>
                  <a:lnTo>
                    <a:pt x="28326" y="919977"/>
                  </a:lnTo>
                  <a:cubicBezTo>
                    <a:pt x="12682" y="919977"/>
                    <a:pt x="0" y="907295"/>
                    <a:pt x="0" y="891651"/>
                  </a:cubicBezTo>
                  <a:lnTo>
                    <a:pt x="0" y="28326"/>
                  </a:lnTo>
                  <a:cubicBezTo>
                    <a:pt x="0" y="12682"/>
                    <a:pt x="12682" y="0"/>
                    <a:pt x="28326" y="0"/>
                  </a:cubicBezTo>
                  <a:close/>
                </a:path>
              </a:pathLst>
            </a:custGeom>
            <a:solidFill>
              <a:srgbClr val="283755"/>
            </a:solidFill>
            <a:ln w="38100" cap="sq">
              <a:solidFill>
                <a:srgbClr val="23303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66008" cy="967602"/>
            </a:xfrm>
            <a:prstGeom prst="rect">
              <a:avLst/>
            </a:prstGeom>
          </p:spPr>
          <p:txBody>
            <a:bodyPr lIns="47320" tIns="47320" rIns="47320" bIns="47320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34568" y="4532351"/>
            <a:ext cx="2562362" cy="4164804"/>
            <a:chOff x="0" y="0"/>
            <a:chExt cx="566008" cy="9199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6008" cy="919977"/>
            </a:xfrm>
            <a:custGeom>
              <a:avLst/>
              <a:gdLst/>
              <a:ahLst/>
              <a:cxnLst/>
              <a:rect l="l" t="t" r="r" b="b"/>
              <a:pathLst>
                <a:path w="566008" h="919977">
                  <a:moveTo>
                    <a:pt x="28326" y="0"/>
                  </a:moveTo>
                  <a:lnTo>
                    <a:pt x="537683" y="0"/>
                  </a:lnTo>
                  <a:cubicBezTo>
                    <a:pt x="553327" y="0"/>
                    <a:pt x="566008" y="12682"/>
                    <a:pt x="566008" y="28326"/>
                  </a:cubicBezTo>
                  <a:lnTo>
                    <a:pt x="566008" y="891651"/>
                  </a:lnTo>
                  <a:cubicBezTo>
                    <a:pt x="566008" y="907295"/>
                    <a:pt x="553327" y="919977"/>
                    <a:pt x="537683" y="919977"/>
                  </a:cubicBezTo>
                  <a:lnTo>
                    <a:pt x="28326" y="919977"/>
                  </a:lnTo>
                  <a:cubicBezTo>
                    <a:pt x="12682" y="919977"/>
                    <a:pt x="0" y="907295"/>
                    <a:pt x="0" y="891651"/>
                  </a:cubicBezTo>
                  <a:lnTo>
                    <a:pt x="0" y="28326"/>
                  </a:lnTo>
                  <a:cubicBezTo>
                    <a:pt x="0" y="12682"/>
                    <a:pt x="12682" y="0"/>
                    <a:pt x="28326" y="0"/>
                  </a:cubicBezTo>
                  <a:close/>
                </a:path>
              </a:pathLst>
            </a:custGeom>
            <a:solidFill>
              <a:srgbClr val="283755"/>
            </a:solidFill>
            <a:ln w="38100" cap="sq">
              <a:solidFill>
                <a:srgbClr val="23303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66008" cy="967602"/>
            </a:xfrm>
            <a:prstGeom prst="rect">
              <a:avLst/>
            </a:prstGeom>
          </p:spPr>
          <p:txBody>
            <a:bodyPr lIns="47320" tIns="47320" rIns="47320" bIns="47320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755253" y="4532351"/>
            <a:ext cx="2562362" cy="4164804"/>
            <a:chOff x="0" y="0"/>
            <a:chExt cx="566008" cy="9199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6008" cy="919977"/>
            </a:xfrm>
            <a:custGeom>
              <a:avLst/>
              <a:gdLst/>
              <a:ahLst/>
              <a:cxnLst/>
              <a:rect l="l" t="t" r="r" b="b"/>
              <a:pathLst>
                <a:path w="566008" h="919977">
                  <a:moveTo>
                    <a:pt x="28326" y="0"/>
                  </a:moveTo>
                  <a:lnTo>
                    <a:pt x="537683" y="0"/>
                  </a:lnTo>
                  <a:cubicBezTo>
                    <a:pt x="553327" y="0"/>
                    <a:pt x="566008" y="12682"/>
                    <a:pt x="566008" y="28326"/>
                  </a:cubicBezTo>
                  <a:lnTo>
                    <a:pt x="566008" y="891651"/>
                  </a:lnTo>
                  <a:cubicBezTo>
                    <a:pt x="566008" y="907295"/>
                    <a:pt x="553327" y="919977"/>
                    <a:pt x="537683" y="919977"/>
                  </a:cubicBezTo>
                  <a:lnTo>
                    <a:pt x="28326" y="919977"/>
                  </a:lnTo>
                  <a:cubicBezTo>
                    <a:pt x="12682" y="919977"/>
                    <a:pt x="0" y="907295"/>
                    <a:pt x="0" y="891651"/>
                  </a:cubicBezTo>
                  <a:lnTo>
                    <a:pt x="0" y="28326"/>
                  </a:lnTo>
                  <a:cubicBezTo>
                    <a:pt x="0" y="12682"/>
                    <a:pt x="12682" y="0"/>
                    <a:pt x="28326" y="0"/>
                  </a:cubicBezTo>
                  <a:close/>
                </a:path>
              </a:pathLst>
            </a:custGeom>
            <a:solidFill>
              <a:srgbClr val="283755"/>
            </a:solidFill>
            <a:ln w="38100" cap="sq">
              <a:solidFill>
                <a:srgbClr val="23303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566008" cy="967602"/>
            </a:xfrm>
            <a:prstGeom prst="rect">
              <a:avLst/>
            </a:prstGeom>
          </p:spPr>
          <p:txBody>
            <a:bodyPr lIns="47320" tIns="47320" rIns="47320" bIns="47320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6819640" y="8992429"/>
            <a:ext cx="495069" cy="437517"/>
          </a:xfrm>
          <a:custGeom>
            <a:avLst/>
            <a:gdLst/>
            <a:ahLst/>
            <a:cxnLst/>
            <a:rect l="l" t="t" r="r" b="b"/>
            <a:pathLst>
              <a:path w="495069" h="437517">
                <a:moveTo>
                  <a:pt x="0" y="0"/>
                </a:moveTo>
                <a:lnTo>
                  <a:pt x="495069" y="0"/>
                </a:lnTo>
                <a:lnTo>
                  <a:pt x="495069" y="437517"/>
                </a:lnTo>
                <a:lnTo>
                  <a:pt x="0" y="4375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6622080" y="4645021"/>
            <a:ext cx="2346361" cy="1677126"/>
            <a:chOff x="0" y="0"/>
            <a:chExt cx="390246" cy="27893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0246" cy="278939"/>
            </a:xfrm>
            <a:custGeom>
              <a:avLst/>
              <a:gdLst/>
              <a:ahLst/>
              <a:cxnLst/>
              <a:rect l="l" t="t" r="r" b="b"/>
              <a:pathLst>
                <a:path w="390246" h="278939">
                  <a:moveTo>
                    <a:pt x="26396" y="0"/>
                  </a:moveTo>
                  <a:lnTo>
                    <a:pt x="363849" y="0"/>
                  </a:lnTo>
                  <a:cubicBezTo>
                    <a:pt x="378428" y="0"/>
                    <a:pt x="390246" y="11818"/>
                    <a:pt x="390246" y="26396"/>
                  </a:cubicBezTo>
                  <a:lnTo>
                    <a:pt x="390246" y="252543"/>
                  </a:lnTo>
                  <a:cubicBezTo>
                    <a:pt x="390246" y="267121"/>
                    <a:pt x="378428" y="278939"/>
                    <a:pt x="363849" y="278939"/>
                  </a:cubicBezTo>
                  <a:lnTo>
                    <a:pt x="26396" y="278939"/>
                  </a:lnTo>
                  <a:cubicBezTo>
                    <a:pt x="11818" y="278939"/>
                    <a:pt x="0" y="267121"/>
                    <a:pt x="0" y="252543"/>
                  </a:cubicBezTo>
                  <a:lnTo>
                    <a:pt x="0" y="26396"/>
                  </a:lnTo>
                  <a:cubicBezTo>
                    <a:pt x="0" y="11818"/>
                    <a:pt x="11818" y="0"/>
                    <a:pt x="26396" y="0"/>
                  </a:cubicBezTo>
                  <a:close/>
                </a:path>
              </a:pathLst>
            </a:custGeom>
            <a:blipFill>
              <a:blip r:embed="rId3"/>
              <a:stretch>
                <a:fillRect l="-8164" t="-22292" r="-8382" b="-891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9367883" y="4645021"/>
            <a:ext cx="2346361" cy="1677126"/>
            <a:chOff x="0" y="0"/>
            <a:chExt cx="390246" cy="2789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0246" cy="278939"/>
            </a:xfrm>
            <a:custGeom>
              <a:avLst/>
              <a:gdLst/>
              <a:ahLst/>
              <a:cxnLst/>
              <a:rect l="l" t="t" r="r" b="b"/>
              <a:pathLst>
                <a:path w="390246" h="278939">
                  <a:moveTo>
                    <a:pt x="26396" y="0"/>
                  </a:moveTo>
                  <a:lnTo>
                    <a:pt x="363849" y="0"/>
                  </a:lnTo>
                  <a:cubicBezTo>
                    <a:pt x="378428" y="0"/>
                    <a:pt x="390246" y="11818"/>
                    <a:pt x="390246" y="26396"/>
                  </a:cubicBezTo>
                  <a:lnTo>
                    <a:pt x="390246" y="252543"/>
                  </a:lnTo>
                  <a:cubicBezTo>
                    <a:pt x="390246" y="267121"/>
                    <a:pt x="378428" y="278939"/>
                    <a:pt x="363849" y="278939"/>
                  </a:cubicBezTo>
                  <a:lnTo>
                    <a:pt x="26396" y="278939"/>
                  </a:lnTo>
                  <a:cubicBezTo>
                    <a:pt x="11818" y="278939"/>
                    <a:pt x="0" y="267121"/>
                    <a:pt x="0" y="252543"/>
                  </a:cubicBezTo>
                  <a:lnTo>
                    <a:pt x="0" y="26396"/>
                  </a:lnTo>
                  <a:cubicBezTo>
                    <a:pt x="0" y="11818"/>
                    <a:pt x="11818" y="0"/>
                    <a:pt x="26396" y="0"/>
                  </a:cubicBezTo>
                  <a:close/>
                </a:path>
              </a:pathLst>
            </a:custGeom>
            <a:blipFill>
              <a:blip r:embed="rId4"/>
              <a:stretch>
                <a:fillRect l="-7109" t="-22279" r="-6655" b="-9840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2142568" y="4645021"/>
            <a:ext cx="2346361" cy="1677126"/>
            <a:chOff x="0" y="0"/>
            <a:chExt cx="390246" cy="27893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90246" cy="278939"/>
            </a:xfrm>
            <a:custGeom>
              <a:avLst/>
              <a:gdLst/>
              <a:ahLst/>
              <a:cxnLst/>
              <a:rect l="l" t="t" r="r" b="b"/>
              <a:pathLst>
                <a:path w="390246" h="278939">
                  <a:moveTo>
                    <a:pt x="26396" y="0"/>
                  </a:moveTo>
                  <a:lnTo>
                    <a:pt x="363849" y="0"/>
                  </a:lnTo>
                  <a:cubicBezTo>
                    <a:pt x="378428" y="0"/>
                    <a:pt x="390246" y="11818"/>
                    <a:pt x="390246" y="26396"/>
                  </a:cubicBezTo>
                  <a:lnTo>
                    <a:pt x="390246" y="252543"/>
                  </a:lnTo>
                  <a:cubicBezTo>
                    <a:pt x="390246" y="267121"/>
                    <a:pt x="378428" y="278939"/>
                    <a:pt x="363849" y="278939"/>
                  </a:cubicBezTo>
                  <a:lnTo>
                    <a:pt x="26396" y="278939"/>
                  </a:lnTo>
                  <a:cubicBezTo>
                    <a:pt x="11818" y="278939"/>
                    <a:pt x="0" y="267121"/>
                    <a:pt x="0" y="252543"/>
                  </a:cubicBezTo>
                  <a:lnTo>
                    <a:pt x="0" y="26396"/>
                  </a:lnTo>
                  <a:cubicBezTo>
                    <a:pt x="0" y="11818"/>
                    <a:pt x="11818" y="0"/>
                    <a:pt x="26396" y="0"/>
                  </a:cubicBezTo>
                  <a:close/>
                </a:path>
              </a:pathLst>
            </a:custGeom>
            <a:blipFill>
              <a:blip r:embed="rId5"/>
              <a:stretch>
                <a:fillRect l="-5641" t="-8254" r="-9609" b="-7502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4863253" y="4645021"/>
            <a:ext cx="2346361" cy="1677126"/>
            <a:chOff x="0" y="0"/>
            <a:chExt cx="390246" cy="27893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0246" cy="278939"/>
            </a:xfrm>
            <a:custGeom>
              <a:avLst/>
              <a:gdLst/>
              <a:ahLst/>
              <a:cxnLst/>
              <a:rect l="l" t="t" r="r" b="b"/>
              <a:pathLst>
                <a:path w="390246" h="278939">
                  <a:moveTo>
                    <a:pt x="26396" y="0"/>
                  </a:moveTo>
                  <a:lnTo>
                    <a:pt x="363849" y="0"/>
                  </a:lnTo>
                  <a:cubicBezTo>
                    <a:pt x="378428" y="0"/>
                    <a:pt x="390246" y="11818"/>
                    <a:pt x="390246" y="26396"/>
                  </a:cubicBezTo>
                  <a:lnTo>
                    <a:pt x="390246" y="252543"/>
                  </a:lnTo>
                  <a:cubicBezTo>
                    <a:pt x="390246" y="267121"/>
                    <a:pt x="378428" y="278939"/>
                    <a:pt x="363849" y="278939"/>
                  </a:cubicBezTo>
                  <a:lnTo>
                    <a:pt x="26396" y="278939"/>
                  </a:lnTo>
                  <a:cubicBezTo>
                    <a:pt x="11818" y="278939"/>
                    <a:pt x="0" y="267121"/>
                    <a:pt x="0" y="252543"/>
                  </a:cubicBezTo>
                  <a:lnTo>
                    <a:pt x="0" y="26396"/>
                  </a:lnTo>
                  <a:cubicBezTo>
                    <a:pt x="0" y="11818"/>
                    <a:pt x="11818" y="0"/>
                    <a:pt x="26396" y="0"/>
                  </a:cubicBezTo>
                  <a:close/>
                </a:path>
              </a:pathLst>
            </a:custGeom>
            <a:blipFill>
              <a:blip r:embed="rId6"/>
              <a:stretch>
                <a:fillRect l="-9893" t="-10545" r="-7730" b="-7938"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14979352" y="6484231"/>
            <a:ext cx="388287" cy="388287"/>
          </a:xfrm>
          <a:custGeom>
            <a:avLst/>
            <a:gdLst/>
            <a:ahLst/>
            <a:cxnLst/>
            <a:rect l="l" t="t" r="r" b="b"/>
            <a:pathLst>
              <a:path w="388287" h="388287">
                <a:moveTo>
                  <a:pt x="0" y="0"/>
                </a:moveTo>
                <a:lnTo>
                  <a:pt x="388287" y="0"/>
                </a:lnTo>
                <a:lnTo>
                  <a:pt x="388287" y="388288"/>
                </a:lnTo>
                <a:lnTo>
                  <a:pt x="0" y="38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212227" y="6484231"/>
            <a:ext cx="388287" cy="388287"/>
          </a:xfrm>
          <a:custGeom>
            <a:avLst/>
            <a:gdLst/>
            <a:ahLst/>
            <a:cxnLst/>
            <a:rect l="l" t="t" r="r" b="b"/>
            <a:pathLst>
              <a:path w="388287" h="388287">
                <a:moveTo>
                  <a:pt x="0" y="0"/>
                </a:moveTo>
                <a:lnTo>
                  <a:pt x="388287" y="0"/>
                </a:lnTo>
                <a:lnTo>
                  <a:pt x="388287" y="388288"/>
                </a:lnTo>
                <a:lnTo>
                  <a:pt x="0" y="38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547584" y="6484231"/>
            <a:ext cx="388287" cy="388287"/>
          </a:xfrm>
          <a:custGeom>
            <a:avLst/>
            <a:gdLst/>
            <a:ahLst/>
            <a:cxnLst/>
            <a:rect l="l" t="t" r="r" b="b"/>
            <a:pathLst>
              <a:path w="388287" h="388287">
                <a:moveTo>
                  <a:pt x="0" y="0"/>
                </a:moveTo>
                <a:lnTo>
                  <a:pt x="388288" y="0"/>
                </a:lnTo>
                <a:lnTo>
                  <a:pt x="388288" y="388288"/>
                </a:lnTo>
                <a:lnTo>
                  <a:pt x="0" y="38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819640" y="6484231"/>
            <a:ext cx="388287" cy="388287"/>
          </a:xfrm>
          <a:custGeom>
            <a:avLst/>
            <a:gdLst/>
            <a:ahLst/>
            <a:cxnLst/>
            <a:rect l="l" t="t" r="r" b="b"/>
            <a:pathLst>
              <a:path w="388287" h="388287">
                <a:moveTo>
                  <a:pt x="0" y="0"/>
                </a:moveTo>
                <a:lnTo>
                  <a:pt x="388288" y="0"/>
                </a:lnTo>
                <a:lnTo>
                  <a:pt x="388288" y="388288"/>
                </a:lnTo>
                <a:lnTo>
                  <a:pt x="0" y="38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6819640" y="8252577"/>
            <a:ext cx="164141" cy="164141"/>
          </a:xfrm>
          <a:custGeom>
            <a:avLst/>
            <a:gdLst/>
            <a:ahLst/>
            <a:cxnLst/>
            <a:rect l="l" t="t" r="r" b="b"/>
            <a:pathLst>
              <a:path w="164141" h="164141">
                <a:moveTo>
                  <a:pt x="0" y="0"/>
                </a:moveTo>
                <a:lnTo>
                  <a:pt x="164141" y="0"/>
                </a:lnTo>
                <a:lnTo>
                  <a:pt x="164141" y="164140"/>
                </a:lnTo>
                <a:lnTo>
                  <a:pt x="0" y="164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7922598" y="8252577"/>
            <a:ext cx="164141" cy="164141"/>
          </a:xfrm>
          <a:custGeom>
            <a:avLst/>
            <a:gdLst/>
            <a:ahLst/>
            <a:cxnLst/>
            <a:rect l="l" t="t" r="r" b="b"/>
            <a:pathLst>
              <a:path w="164141" h="164141">
                <a:moveTo>
                  <a:pt x="0" y="0"/>
                </a:moveTo>
                <a:lnTo>
                  <a:pt x="164141" y="0"/>
                </a:lnTo>
                <a:lnTo>
                  <a:pt x="164141" y="164140"/>
                </a:lnTo>
                <a:lnTo>
                  <a:pt x="0" y="1641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547584" y="8252577"/>
            <a:ext cx="164141" cy="164141"/>
          </a:xfrm>
          <a:custGeom>
            <a:avLst/>
            <a:gdLst/>
            <a:ahLst/>
            <a:cxnLst/>
            <a:rect l="l" t="t" r="r" b="b"/>
            <a:pathLst>
              <a:path w="164141" h="164141">
                <a:moveTo>
                  <a:pt x="0" y="0"/>
                </a:moveTo>
                <a:lnTo>
                  <a:pt x="164141" y="0"/>
                </a:lnTo>
                <a:lnTo>
                  <a:pt x="164141" y="164140"/>
                </a:lnTo>
                <a:lnTo>
                  <a:pt x="0" y="164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650542" y="8252577"/>
            <a:ext cx="164141" cy="164141"/>
          </a:xfrm>
          <a:custGeom>
            <a:avLst/>
            <a:gdLst/>
            <a:ahLst/>
            <a:cxnLst/>
            <a:rect l="l" t="t" r="r" b="b"/>
            <a:pathLst>
              <a:path w="164141" h="164141">
                <a:moveTo>
                  <a:pt x="0" y="0"/>
                </a:moveTo>
                <a:lnTo>
                  <a:pt x="164141" y="0"/>
                </a:lnTo>
                <a:lnTo>
                  <a:pt x="164141" y="164140"/>
                </a:lnTo>
                <a:lnTo>
                  <a:pt x="0" y="1641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2259407" y="8252577"/>
            <a:ext cx="164141" cy="164141"/>
          </a:xfrm>
          <a:custGeom>
            <a:avLst/>
            <a:gdLst/>
            <a:ahLst/>
            <a:cxnLst/>
            <a:rect l="l" t="t" r="r" b="b"/>
            <a:pathLst>
              <a:path w="164141" h="164141">
                <a:moveTo>
                  <a:pt x="0" y="0"/>
                </a:moveTo>
                <a:lnTo>
                  <a:pt x="164140" y="0"/>
                </a:lnTo>
                <a:lnTo>
                  <a:pt x="164140" y="164140"/>
                </a:lnTo>
                <a:lnTo>
                  <a:pt x="0" y="164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5013938" y="8252577"/>
            <a:ext cx="164141" cy="164141"/>
          </a:xfrm>
          <a:custGeom>
            <a:avLst/>
            <a:gdLst/>
            <a:ahLst/>
            <a:cxnLst/>
            <a:rect l="l" t="t" r="r" b="b"/>
            <a:pathLst>
              <a:path w="164141" h="164141">
                <a:moveTo>
                  <a:pt x="0" y="0"/>
                </a:moveTo>
                <a:lnTo>
                  <a:pt x="164141" y="0"/>
                </a:lnTo>
                <a:lnTo>
                  <a:pt x="164141" y="164140"/>
                </a:lnTo>
                <a:lnTo>
                  <a:pt x="0" y="164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6701198" y="713867"/>
            <a:ext cx="1344788" cy="452168"/>
          </a:xfrm>
          <a:custGeom>
            <a:avLst/>
            <a:gdLst/>
            <a:ahLst/>
            <a:cxnLst/>
            <a:rect l="l" t="t" r="r" b="b"/>
            <a:pathLst>
              <a:path w="1344788" h="452168">
                <a:moveTo>
                  <a:pt x="0" y="0"/>
                </a:moveTo>
                <a:lnTo>
                  <a:pt x="1344789" y="0"/>
                </a:lnTo>
                <a:lnTo>
                  <a:pt x="1344789" y="452168"/>
                </a:lnTo>
                <a:lnTo>
                  <a:pt x="0" y="4521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603" t="-51207" r="-9192" b="-48484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4667269" y="739711"/>
            <a:ext cx="391970" cy="400480"/>
          </a:xfrm>
          <a:custGeom>
            <a:avLst/>
            <a:gdLst/>
            <a:ahLst/>
            <a:cxnLst/>
            <a:rect l="l" t="t" r="r" b="b"/>
            <a:pathLst>
              <a:path w="391970" h="400480">
                <a:moveTo>
                  <a:pt x="0" y="0"/>
                </a:moveTo>
                <a:lnTo>
                  <a:pt x="391969" y="0"/>
                </a:lnTo>
                <a:lnTo>
                  <a:pt x="391969" y="400480"/>
                </a:lnTo>
                <a:lnTo>
                  <a:pt x="0" y="400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6104686" y="739711"/>
            <a:ext cx="400480" cy="400480"/>
          </a:xfrm>
          <a:custGeom>
            <a:avLst/>
            <a:gdLst/>
            <a:ahLst/>
            <a:cxnLst/>
            <a:rect l="l" t="t" r="r" b="b"/>
            <a:pathLst>
              <a:path w="400480" h="400480">
                <a:moveTo>
                  <a:pt x="0" y="0"/>
                </a:moveTo>
                <a:lnTo>
                  <a:pt x="400480" y="0"/>
                </a:lnTo>
                <a:lnTo>
                  <a:pt x="400480" y="400480"/>
                </a:lnTo>
                <a:lnTo>
                  <a:pt x="0" y="400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6830873" y="774725"/>
            <a:ext cx="378742" cy="330452"/>
          </a:xfrm>
          <a:custGeom>
            <a:avLst/>
            <a:gdLst/>
            <a:ahLst/>
            <a:cxnLst/>
            <a:rect l="l" t="t" r="r" b="b"/>
            <a:pathLst>
              <a:path w="378742" h="330452">
                <a:moveTo>
                  <a:pt x="0" y="0"/>
                </a:moveTo>
                <a:lnTo>
                  <a:pt x="378741" y="0"/>
                </a:lnTo>
                <a:lnTo>
                  <a:pt x="378741" y="330452"/>
                </a:lnTo>
                <a:lnTo>
                  <a:pt x="0" y="330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1028700" y="3072690"/>
            <a:ext cx="4877477" cy="3713774"/>
            <a:chOff x="0" y="0"/>
            <a:chExt cx="6503303" cy="4951699"/>
          </a:xfrm>
        </p:grpSpPr>
        <p:sp>
          <p:nvSpPr>
            <p:cNvPr id="41" name="TextBox 41"/>
            <p:cNvSpPr txBox="1"/>
            <p:nvPr/>
          </p:nvSpPr>
          <p:spPr>
            <a:xfrm>
              <a:off x="208980" y="0"/>
              <a:ext cx="6294323" cy="392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67"/>
                </a:lnSpc>
              </a:pPr>
              <a:r>
                <a:rPr lang="en-US" sz="1972" b="1" spc="69">
                  <a:solidFill>
                    <a:srgbClr val="FF8C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PROBLEMS IDENTIFIED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0" y="850083"/>
              <a:ext cx="6294323" cy="854402"/>
              <a:chOff x="0" y="0"/>
              <a:chExt cx="6806213" cy="923887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0" y="1932487"/>
              <a:ext cx="6294323" cy="854402"/>
              <a:chOff x="0" y="0"/>
              <a:chExt cx="6806213" cy="92388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0" y="3014892"/>
              <a:ext cx="6294323" cy="854402"/>
              <a:chOff x="0" y="0"/>
              <a:chExt cx="6806213" cy="923887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0" y="4097297"/>
              <a:ext cx="6294323" cy="854402"/>
              <a:chOff x="0" y="0"/>
              <a:chExt cx="6806213" cy="92388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208980" y="1098361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Outdated and dull visual branding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08980" y="2180765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Illustration-heavy screens lack realism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08980" y="3263170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Poor mobile adaptability of the course map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08980" y="4345575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Weak hierarchy and limited interactivity</a:t>
              </a:r>
            </a:p>
          </p:txBody>
        </p:sp>
      </p:grpSp>
      <p:pic>
        <p:nvPicPr>
          <p:cNvPr id="54" name="Pictur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367513" y="8235747"/>
            <a:ext cx="201964" cy="201964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140034" y="8247756"/>
            <a:ext cx="195964" cy="195964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>
            <a:off x="6537815" y="1241606"/>
            <a:ext cx="10779800" cy="3093661"/>
            <a:chOff x="0" y="0"/>
            <a:chExt cx="1792892" cy="51453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792892" cy="514536"/>
            </a:xfrm>
            <a:custGeom>
              <a:avLst/>
              <a:gdLst/>
              <a:ahLst/>
              <a:cxnLst/>
              <a:rect l="l" t="t" r="r" b="b"/>
              <a:pathLst>
                <a:path w="1792892" h="514536">
                  <a:moveTo>
                    <a:pt x="8618" y="0"/>
                  </a:moveTo>
                  <a:lnTo>
                    <a:pt x="1784274" y="0"/>
                  </a:lnTo>
                  <a:cubicBezTo>
                    <a:pt x="1789033" y="0"/>
                    <a:pt x="1792892" y="3859"/>
                    <a:pt x="1792892" y="8618"/>
                  </a:cubicBezTo>
                  <a:lnTo>
                    <a:pt x="1792892" y="505918"/>
                  </a:lnTo>
                  <a:cubicBezTo>
                    <a:pt x="1792892" y="510678"/>
                    <a:pt x="1789033" y="514536"/>
                    <a:pt x="1784274" y="514536"/>
                  </a:cubicBezTo>
                  <a:lnTo>
                    <a:pt x="8618" y="514536"/>
                  </a:lnTo>
                  <a:cubicBezTo>
                    <a:pt x="3859" y="514536"/>
                    <a:pt x="0" y="510678"/>
                    <a:pt x="0" y="505918"/>
                  </a:cubicBezTo>
                  <a:lnTo>
                    <a:pt x="0" y="8618"/>
                  </a:lnTo>
                  <a:cubicBezTo>
                    <a:pt x="0" y="3859"/>
                    <a:pt x="3859" y="0"/>
                    <a:pt x="8618" y="0"/>
                  </a:cubicBezTo>
                  <a:close/>
                </a:path>
              </a:pathLst>
            </a:custGeom>
            <a:blipFill>
              <a:blip r:embed="rId16"/>
              <a:stretch>
                <a:fillRect l="-533" r="-6917" b="-4679"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6537815" y="1241606"/>
            <a:ext cx="10769527" cy="3093661"/>
            <a:chOff x="0" y="0"/>
            <a:chExt cx="2378915" cy="68336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378915" cy="683369"/>
            </a:xfrm>
            <a:custGeom>
              <a:avLst/>
              <a:gdLst/>
              <a:ahLst/>
              <a:cxnLst/>
              <a:rect l="l" t="t" r="r" b="b"/>
              <a:pathLst>
                <a:path w="2378915" h="683369">
                  <a:moveTo>
                    <a:pt x="6739" y="0"/>
                  </a:moveTo>
                  <a:lnTo>
                    <a:pt x="2372176" y="0"/>
                  </a:lnTo>
                  <a:cubicBezTo>
                    <a:pt x="2373963" y="0"/>
                    <a:pt x="2375677" y="710"/>
                    <a:pt x="2376941" y="1974"/>
                  </a:cubicBezTo>
                  <a:cubicBezTo>
                    <a:pt x="2378205" y="3238"/>
                    <a:pt x="2378915" y="4952"/>
                    <a:pt x="2378915" y="6739"/>
                  </a:cubicBezTo>
                  <a:lnTo>
                    <a:pt x="2378915" y="676629"/>
                  </a:lnTo>
                  <a:cubicBezTo>
                    <a:pt x="2378915" y="680351"/>
                    <a:pt x="2375898" y="683369"/>
                    <a:pt x="2372176" y="683369"/>
                  </a:cubicBezTo>
                  <a:lnTo>
                    <a:pt x="6739" y="683369"/>
                  </a:lnTo>
                  <a:cubicBezTo>
                    <a:pt x="4952" y="683369"/>
                    <a:pt x="3238" y="682659"/>
                    <a:pt x="1974" y="681395"/>
                  </a:cubicBezTo>
                  <a:cubicBezTo>
                    <a:pt x="710" y="680131"/>
                    <a:pt x="0" y="678417"/>
                    <a:pt x="0" y="676629"/>
                  </a:cubicBezTo>
                  <a:lnTo>
                    <a:pt x="0" y="6739"/>
                  </a:lnTo>
                  <a:cubicBezTo>
                    <a:pt x="0" y="3017"/>
                    <a:pt x="3017" y="0"/>
                    <a:pt x="6739" y="0"/>
                  </a:cubicBezTo>
                  <a:close/>
                </a:path>
              </a:pathLst>
            </a:custGeom>
            <a:solidFill>
              <a:srgbClr val="283755">
                <a:alpha val="40000"/>
              </a:srgbClr>
            </a:solidFill>
            <a:ln w="38100" cap="sq">
              <a:solidFill>
                <a:srgbClr val="23303F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2378915" cy="730994"/>
            </a:xfrm>
            <a:prstGeom prst="rect">
              <a:avLst/>
            </a:prstGeom>
          </p:spPr>
          <p:txBody>
            <a:bodyPr lIns="47320" tIns="47320" rIns="47320" bIns="47320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819640" y="1830890"/>
            <a:ext cx="5547469" cy="1721548"/>
            <a:chOff x="0" y="0"/>
            <a:chExt cx="7396625" cy="2295397"/>
          </a:xfrm>
        </p:grpSpPr>
        <p:sp>
          <p:nvSpPr>
            <p:cNvPr id="62" name="TextBox 62"/>
            <p:cNvSpPr txBox="1"/>
            <p:nvPr/>
          </p:nvSpPr>
          <p:spPr>
            <a:xfrm>
              <a:off x="0" y="-9525"/>
              <a:ext cx="1835964" cy="2342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41"/>
                </a:lnSpc>
                <a:spcBef>
                  <a:spcPct val="0"/>
                </a:spcBef>
              </a:pPr>
              <a:r>
                <a:rPr lang="en-US" sz="111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Welcome to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485030"/>
              <a:ext cx="7396625" cy="5560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3"/>
                </a:lnSpc>
                <a:spcBef>
                  <a:spcPct val="0"/>
                </a:spcBef>
              </a:pPr>
              <a:r>
                <a:rPr lang="en-US" sz="2794" b="1" spc="39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Amazon Logistics Training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1131257"/>
              <a:ext cx="5296013" cy="459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41"/>
                </a:lnSpc>
                <a:spcBef>
                  <a:spcPct val="0"/>
                </a:spcBef>
              </a:pPr>
              <a:r>
                <a:rPr lang="en-US" sz="111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Understand the Box Recommendation System and keep our operations running smoothly.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0" y="2098085"/>
              <a:ext cx="2496956" cy="193514"/>
            </a:xfrm>
            <a:custGeom>
              <a:avLst/>
              <a:gdLst/>
              <a:ahLst/>
              <a:cxnLst/>
              <a:rect l="l" t="t" r="r" b="b"/>
              <a:pathLst>
                <a:path w="2496956" h="193514">
                  <a:moveTo>
                    <a:pt x="0" y="0"/>
                  </a:moveTo>
                  <a:lnTo>
                    <a:pt x="2496956" y="0"/>
                  </a:lnTo>
                  <a:lnTo>
                    <a:pt x="2496956" y="193514"/>
                  </a:lnTo>
                  <a:lnTo>
                    <a:pt x="0" y="193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1815522"/>
              <a:ext cx="2676014" cy="210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29"/>
                </a:lnSpc>
                <a:spcBef>
                  <a:spcPct val="0"/>
                </a:spcBef>
              </a:pPr>
              <a:r>
                <a:rPr lang="en-US" sz="102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Overall Progress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648006" y="2084762"/>
              <a:ext cx="531084" cy="210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29"/>
                </a:lnSpc>
                <a:spcBef>
                  <a:spcPct val="0"/>
                </a:spcBef>
              </a:pPr>
              <a:r>
                <a:rPr lang="en-US" sz="102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70%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7064144" y="8251924"/>
            <a:ext cx="581048" cy="17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1"/>
              </a:lnSpc>
              <a:spcBef>
                <a:spcPct val="0"/>
              </a:spcBef>
            </a:pPr>
            <a:r>
              <a:rPr lang="en-US" sz="11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 min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150980" y="8251924"/>
            <a:ext cx="781344" cy="17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1"/>
              </a:lnSpc>
              <a:spcBef>
                <a:spcPct val="0"/>
              </a:spcBef>
            </a:pPr>
            <a:r>
              <a:rPr lang="en-US" sz="11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Completed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792088" y="8251924"/>
            <a:ext cx="581048" cy="17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1"/>
              </a:lnSpc>
              <a:spcBef>
                <a:spcPct val="0"/>
              </a:spcBef>
            </a:pPr>
            <a:r>
              <a:rPr lang="en-US" sz="11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 min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878924" y="8251924"/>
            <a:ext cx="781344" cy="17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1"/>
              </a:lnSpc>
              <a:spcBef>
                <a:spcPct val="0"/>
              </a:spcBef>
            </a:pPr>
            <a:r>
              <a:rPr lang="en-US" sz="11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Completed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503910" y="8251924"/>
            <a:ext cx="581048" cy="17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1"/>
              </a:lnSpc>
              <a:spcBef>
                <a:spcPct val="0"/>
              </a:spcBef>
            </a:pPr>
            <a:r>
              <a:rPr lang="en-US" sz="11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12 min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3590746" y="8251924"/>
            <a:ext cx="781344" cy="17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1"/>
              </a:lnSpc>
              <a:spcBef>
                <a:spcPct val="0"/>
              </a:spcBef>
            </a:pPr>
            <a:r>
              <a:rPr lang="en-US" sz="11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 Progress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5258441" y="8251924"/>
            <a:ext cx="581048" cy="17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1"/>
              </a:lnSpc>
              <a:spcBef>
                <a:spcPct val="0"/>
              </a:spcBef>
            </a:pPr>
            <a:r>
              <a:rPr lang="en-US" sz="11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 min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6345277" y="8251924"/>
            <a:ext cx="781344" cy="17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1"/>
              </a:lnSpc>
              <a:spcBef>
                <a:spcPct val="0"/>
              </a:spcBef>
            </a:pPr>
            <a:r>
              <a:rPr lang="en-US" sz="11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 Started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410771" y="8963854"/>
            <a:ext cx="8544017" cy="45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sz="1304" spc="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Managers play a key role in keeping our operations efficient.</a:t>
            </a:r>
          </a:p>
          <a:p>
            <a:pPr algn="l">
              <a:lnSpc>
                <a:spcPts val="1825"/>
              </a:lnSpc>
            </a:pPr>
            <a:r>
              <a:rPr lang="en-US" sz="1304" spc="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training will help you understand the reccomendation criteria so you can resolve issues quickly.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978812" y="6551019"/>
            <a:ext cx="69945" cy="22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5"/>
              </a:lnSpc>
            </a:pPr>
            <a:r>
              <a:rPr lang="en-US" sz="1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690119" y="6551019"/>
            <a:ext cx="103217" cy="22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5"/>
              </a:lnSpc>
            </a:pPr>
            <a:r>
              <a:rPr lang="en-US" sz="1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2353357" y="6551019"/>
            <a:ext cx="106026" cy="22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5"/>
              </a:lnSpc>
            </a:pPr>
            <a:r>
              <a:rPr lang="en-US" sz="1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5117821" y="6551019"/>
            <a:ext cx="111350" cy="22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5"/>
              </a:lnSpc>
            </a:pPr>
            <a:r>
              <a:rPr lang="en-US" sz="130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858902" y="6939854"/>
            <a:ext cx="1348181" cy="24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490" b="1" spc="5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 Special Day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819640" y="7383071"/>
            <a:ext cx="1911979" cy="58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4"/>
              </a:lnSpc>
              <a:spcBef>
                <a:spcPct val="0"/>
              </a:spcBef>
            </a:pPr>
            <a:r>
              <a:rPr lang="en-US" sz="130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See how a typical day runs in our fulfilment centre.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547584" y="7383071"/>
            <a:ext cx="2181496" cy="39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4"/>
              </a:lnSpc>
              <a:spcBef>
                <a:spcPct val="0"/>
              </a:spcBef>
            </a:pPr>
            <a:r>
              <a:rPr lang="en-US" sz="130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Explore the different types of packaging we use.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547584" y="6939854"/>
            <a:ext cx="1746969" cy="24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490" b="1" spc="5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Packaging Types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2212227" y="6939854"/>
            <a:ext cx="2177140" cy="24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490" b="1" spc="5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Box Recommendation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2212227" y="7383071"/>
            <a:ext cx="2181496" cy="58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4"/>
              </a:lnSpc>
            </a:pPr>
            <a:r>
              <a:rPr lang="en-US" sz="130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Learn how our automated</a:t>
            </a:r>
          </a:p>
          <a:p>
            <a:pPr algn="l">
              <a:lnSpc>
                <a:spcPts val="1564"/>
              </a:lnSpc>
            </a:pPr>
            <a:r>
              <a:rPr lang="en-US" sz="130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 recommends the </a:t>
            </a:r>
          </a:p>
          <a:p>
            <a:pPr algn="l">
              <a:lnSpc>
                <a:spcPts val="1564"/>
              </a:lnSpc>
              <a:spcBef>
                <a:spcPct val="0"/>
              </a:spcBef>
            </a:pPr>
            <a:r>
              <a:rPr lang="en-US" sz="130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right box.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5013938" y="7383071"/>
            <a:ext cx="2181496" cy="39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4"/>
              </a:lnSpc>
              <a:spcBef>
                <a:spcPct val="0"/>
              </a:spcBef>
            </a:pPr>
            <a:r>
              <a:rPr lang="en-US" sz="130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Get familiar with the tools that power the system.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4979352" y="6939854"/>
            <a:ext cx="2177140" cy="24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490" b="1" spc="5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Using the tools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144204" y="846137"/>
            <a:ext cx="875515" cy="17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1"/>
              </a:lnSpc>
              <a:spcBef>
                <a:spcPct val="0"/>
              </a:spcBef>
            </a:pPr>
            <a:r>
              <a:rPr lang="en-US" sz="11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My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03322" y="1028700"/>
            <a:ext cx="4159154" cy="8229600"/>
            <a:chOff x="0" y="0"/>
            <a:chExt cx="5545538" cy="10972800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0" y="0"/>
              <a:ext cx="5545538" cy="10972800"/>
              <a:chOff x="0" y="0"/>
              <a:chExt cx="2620010" cy="518414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l="l" t="t" r="r" b="b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solidFill>
                <a:srgbClr val="212D47"/>
              </a:solidFill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id="7" name="Freeform 7"/>
              <p:cNvSpPr/>
              <p:nvPr/>
            </p:nvSpPr>
            <p:spPr>
              <a:xfrm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l="l" t="t" r="r" b="b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id="8" name="Freeform 8"/>
              <p:cNvSpPr/>
              <p:nvPr/>
            </p:nvSpPr>
            <p:spPr>
              <a:xfrm>
                <a:off x="0" y="685800"/>
                <a:ext cx="2794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1057910"/>
                <a:ext cx="27940" cy="38481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0" name="Freeform 10"/>
              <p:cNvSpPr/>
              <p:nvPr/>
            </p:nvSpPr>
            <p:spPr>
              <a:xfrm>
                <a:off x="0" y="1526540"/>
                <a:ext cx="2794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l="l" t="t" r="r" b="b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7940" y="0"/>
                <a:ext cx="2564130" cy="5182870"/>
              </a:xfrm>
              <a:custGeom>
                <a:avLst/>
                <a:gdLst/>
                <a:ahLst/>
                <a:cxnLst/>
                <a:rect l="l" t="t" r="r" b="b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555555"/>
              </a:solidFill>
            </p:spPr>
          </p:sp>
        </p:grpSp>
        <p:sp>
          <p:nvSpPr>
            <p:cNvPr id="13" name="Freeform 13"/>
            <p:cNvSpPr/>
            <p:nvPr/>
          </p:nvSpPr>
          <p:spPr>
            <a:xfrm>
              <a:off x="599463" y="869837"/>
              <a:ext cx="1251704" cy="454665"/>
            </a:xfrm>
            <a:custGeom>
              <a:avLst/>
              <a:gdLst/>
              <a:ahLst/>
              <a:cxnLst/>
              <a:rect l="l" t="t" r="r" b="b"/>
              <a:pathLst>
                <a:path w="1251704" h="454665">
                  <a:moveTo>
                    <a:pt x="0" y="0"/>
                  </a:moveTo>
                  <a:lnTo>
                    <a:pt x="1251704" y="0"/>
                  </a:lnTo>
                  <a:lnTo>
                    <a:pt x="1251704" y="454664"/>
                  </a:lnTo>
                  <a:lnTo>
                    <a:pt x="0" y="454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12" t="-34758" r="-3607" b="-37258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4370632" y="912480"/>
              <a:ext cx="264533" cy="230805"/>
            </a:xfrm>
            <a:custGeom>
              <a:avLst/>
              <a:gdLst/>
              <a:ahLst/>
              <a:cxnLst/>
              <a:rect l="l" t="t" r="r" b="b"/>
              <a:pathLst>
                <a:path w="264533" h="230805">
                  <a:moveTo>
                    <a:pt x="0" y="0"/>
                  </a:moveTo>
                  <a:lnTo>
                    <a:pt x="264533" y="0"/>
                  </a:lnTo>
                  <a:lnTo>
                    <a:pt x="264533" y="230805"/>
                  </a:lnTo>
                  <a:lnTo>
                    <a:pt x="0" y="230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AutoShape 15"/>
            <p:cNvSpPr/>
            <p:nvPr/>
          </p:nvSpPr>
          <p:spPr>
            <a:xfrm flipV="1">
              <a:off x="2902370" y="2071855"/>
              <a:ext cx="1395868" cy="0"/>
            </a:xfrm>
            <a:prstGeom prst="line">
              <a:avLst/>
            </a:prstGeom>
            <a:ln w="190500" cap="rnd">
              <a:solidFill>
                <a:srgbClr val="E6E6E6">
                  <a:alpha val="14902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" name="Freeform 16"/>
            <p:cNvSpPr/>
            <p:nvPr/>
          </p:nvSpPr>
          <p:spPr>
            <a:xfrm>
              <a:off x="599463" y="1978695"/>
              <a:ext cx="2496956" cy="193514"/>
            </a:xfrm>
            <a:custGeom>
              <a:avLst/>
              <a:gdLst/>
              <a:ahLst/>
              <a:cxnLst/>
              <a:rect l="l" t="t" r="r" b="b"/>
              <a:pathLst>
                <a:path w="2496956" h="193514">
                  <a:moveTo>
                    <a:pt x="0" y="0"/>
                  </a:moveTo>
                  <a:lnTo>
                    <a:pt x="2496956" y="0"/>
                  </a:lnTo>
                  <a:lnTo>
                    <a:pt x="2496956" y="193514"/>
                  </a:lnTo>
                  <a:lnTo>
                    <a:pt x="0" y="193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7" name="Group 17"/>
            <p:cNvGrpSpPr/>
            <p:nvPr/>
          </p:nvGrpSpPr>
          <p:grpSpPr>
            <a:xfrm>
              <a:off x="2180124" y="2346128"/>
              <a:ext cx="2678523" cy="1515450"/>
              <a:chOff x="0" y="0"/>
              <a:chExt cx="740750" cy="4191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407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40750" h="419100">
                    <a:moveTo>
                      <a:pt x="36130" y="0"/>
                    </a:moveTo>
                    <a:lnTo>
                      <a:pt x="704620" y="0"/>
                    </a:lnTo>
                    <a:cubicBezTo>
                      <a:pt x="714202" y="0"/>
                      <a:pt x="723392" y="3807"/>
                      <a:pt x="730167" y="10582"/>
                    </a:cubicBezTo>
                    <a:cubicBezTo>
                      <a:pt x="736943" y="17358"/>
                      <a:pt x="740750" y="26547"/>
                      <a:pt x="740750" y="36130"/>
                    </a:cubicBezTo>
                    <a:lnTo>
                      <a:pt x="740750" y="382970"/>
                    </a:lnTo>
                    <a:cubicBezTo>
                      <a:pt x="740750" y="402924"/>
                      <a:pt x="724574" y="419100"/>
                      <a:pt x="704620" y="419100"/>
                    </a:cubicBezTo>
                    <a:lnTo>
                      <a:pt x="36130" y="419100"/>
                    </a:lnTo>
                    <a:cubicBezTo>
                      <a:pt x="16176" y="419100"/>
                      <a:pt x="0" y="402924"/>
                      <a:pt x="0" y="382970"/>
                    </a:cubicBezTo>
                    <a:lnTo>
                      <a:pt x="0" y="36130"/>
                    </a:lnTo>
                    <a:cubicBezTo>
                      <a:pt x="0" y="16176"/>
                      <a:pt x="16176" y="0"/>
                      <a:pt x="36130" y="0"/>
                    </a:cubicBezTo>
                    <a:close/>
                  </a:path>
                </a:pathLst>
              </a:custGeom>
              <a:solidFill>
                <a:srgbClr val="283755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740750" cy="466725"/>
              </a:xfrm>
              <a:prstGeom prst="rect">
                <a:avLst/>
              </a:prstGeom>
            </p:spPr>
            <p:txBody>
              <a:bodyPr lIns="28347" tIns="28347" rIns="28347" bIns="28347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2180124" y="2346128"/>
              <a:ext cx="2678523" cy="1515450"/>
              <a:chOff x="0" y="0"/>
              <a:chExt cx="740750" cy="4191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407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40750" h="419100">
                    <a:moveTo>
                      <a:pt x="36130" y="0"/>
                    </a:moveTo>
                    <a:lnTo>
                      <a:pt x="704620" y="0"/>
                    </a:lnTo>
                    <a:cubicBezTo>
                      <a:pt x="714202" y="0"/>
                      <a:pt x="723392" y="3807"/>
                      <a:pt x="730167" y="10582"/>
                    </a:cubicBezTo>
                    <a:cubicBezTo>
                      <a:pt x="736943" y="17358"/>
                      <a:pt x="740750" y="26547"/>
                      <a:pt x="740750" y="36130"/>
                    </a:cubicBezTo>
                    <a:lnTo>
                      <a:pt x="740750" y="382970"/>
                    </a:lnTo>
                    <a:cubicBezTo>
                      <a:pt x="740750" y="402924"/>
                      <a:pt x="724574" y="419100"/>
                      <a:pt x="704620" y="419100"/>
                    </a:cubicBezTo>
                    <a:lnTo>
                      <a:pt x="36130" y="419100"/>
                    </a:lnTo>
                    <a:cubicBezTo>
                      <a:pt x="16176" y="419100"/>
                      <a:pt x="0" y="402924"/>
                      <a:pt x="0" y="382970"/>
                    </a:cubicBezTo>
                    <a:lnTo>
                      <a:pt x="0" y="36130"/>
                    </a:lnTo>
                    <a:cubicBezTo>
                      <a:pt x="0" y="16176"/>
                      <a:pt x="16176" y="0"/>
                      <a:pt x="36130" y="0"/>
                    </a:cubicBezTo>
                    <a:close/>
                  </a:path>
                </a:pathLst>
              </a:custGeom>
              <a:solidFill>
                <a:srgbClr val="4A7EBB">
                  <a:alpha val="17647"/>
                </a:srgbClr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740750" cy="466725"/>
              </a:xfrm>
              <a:prstGeom prst="rect">
                <a:avLst/>
              </a:prstGeom>
            </p:spPr>
            <p:txBody>
              <a:bodyPr lIns="28347" tIns="28347" rIns="28347" bIns="28347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149267" y="3992778"/>
              <a:ext cx="2678523" cy="1515450"/>
              <a:chOff x="0" y="0"/>
              <a:chExt cx="740750" cy="4191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7407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40750" h="419100">
                    <a:moveTo>
                      <a:pt x="36130" y="0"/>
                    </a:moveTo>
                    <a:lnTo>
                      <a:pt x="704620" y="0"/>
                    </a:lnTo>
                    <a:cubicBezTo>
                      <a:pt x="714202" y="0"/>
                      <a:pt x="723392" y="3807"/>
                      <a:pt x="730167" y="10582"/>
                    </a:cubicBezTo>
                    <a:cubicBezTo>
                      <a:pt x="736943" y="17358"/>
                      <a:pt x="740750" y="26547"/>
                      <a:pt x="740750" y="36130"/>
                    </a:cubicBezTo>
                    <a:lnTo>
                      <a:pt x="740750" y="382970"/>
                    </a:lnTo>
                    <a:cubicBezTo>
                      <a:pt x="740750" y="402924"/>
                      <a:pt x="724574" y="419100"/>
                      <a:pt x="704620" y="419100"/>
                    </a:cubicBezTo>
                    <a:lnTo>
                      <a:pt x="36130" y="419100"/>
                    </a:lnTo>
                    <a:cubicBezTo>
                      <a:pt x="16176" y="419100"/>
                      <a:pt x="0" y="402924"/>
                      <a:pt x="0" y="382970"/>
                    </a:cubicBezTo>
                    <a:lnTo>
                      <a:pt x="0" y="36130"/>
                    </a:lnTo>
                    <a:cubicBezTo>
                      <a:pt x="0" y="16176"/>
                      <a:pt x="16176" y="0"/>
                      <a:pt x="36130" y="0"/>
                    </a:cubicBezTo>
                    <a:close/>
                  </a:path>
                </a:pathLst>
              </a:custGeom>
              <a:solidFill>
                <a:srgbClr val="283755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740750" cy="466725"/>
              </a:xfrm>
              <a:prstGeom prst="rect">
                <a:avLst/>
              </a:prstGeom>
            </p:spPr>
            <p:txBody>
              <a:bodyPr lIns="28347" tIns="28347" rIns="28347" bIns="28347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149267" y="3992778"/>
              <a:ext cx="2678523" cy="1515450"/>
              <a:chOff x="0" y="0"/>
              <a:chExt cx="740750" cy="4191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407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40750" h="419100">
                    <a:moveTo>
                      <a:pt x="36130" y="0"/>
                    </a:moveTo>
                    <a:lnTo>
                      <a:pt x="704620" y="0"/>
                    </a:lnTo>
                    <a:cubicBezTo>
                      <a:pt x="714202" y="0"/>
                      <a:pt x="723392" y="3807"/>
                      <a:pt x="730167" y="10582"/>
                    </a:cubicBezTo>
                    <a:cubicBezTo>
                      <a:pt x="736943" y="17358"/>
                      <a:pt x="740750" y="26547"/>
                      <a:pt x="740750" y="36130"/>
                    </a:cubicBezTo>
                    <a:lnTo>
                      <a:pt x="740750" y="382970"/>
                    </a:lnTo>
                    <a:cubicBezTo>
                      <a:pt x="740750" y="402924"/>
                      <a:pt x="724574" y="419100"/>
                      <a:pt x="704620" y="419100"/>
                    </a:cubicBezTo>
                    <a:lnTo>
                      <a:pt x="36130" y="419100"/>
                    </a:lnTo>
                    <a:cubicBezTo>
                      <a:pt x="16176" y="419100"/>
                      <a:pt x="0" y="402924"/>
                      <a:pt x="0" y="382970"/>
                    </a:cubicBezTo>
                    <a:lnTo>
                      <a:pt x="0" y="36130"/>
                    </a:lnTo>
                    <a:cubicBezTo>
                      <a:pt x="0" y="16176"/>
                      <a:pt x="16176" y="0"/>
                      <a:pt x="36130" y="0"/>
                    </a:cubicBezTo>
                    <a:close/>
                  </a:path>
                </a:pathLst>
              </a:custGeom>
              <a:solidFill>
                <a:srgbClr val="4A7EBB">
                  <a:alpha val="17647"/>
                </a:srgbClr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740750" cy="466725"/>
              </a:xfrm>
              <a:prstGeom prst="rect">
                <a:avLst/>
              </a:prstGeom>
            </p:spPr>
            <p:txBody>
              <a:bodyPr lIns="28347" tIns="28347" rIns="28347" bIns="28347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210981" y="5635228"/>
              <a:ext cx="2678523" cy="1515450"/>
              <a:chOff x="0" y="0"/>
              <a:chExt cx="740750" cy="4191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7407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40750" h="419100">
                    <a:moveTo>
                      <a:pt x="36130" y="0"/>
                    </a:moveTo>
                    <a:lnTo>
                      <a:pt x="704620" y="0"/>
                    </a:lnTo>
                    <a:cubicBezTo>
                      <a:pt x="714202" y="0"/>
                      <a:pt x="723392" y="3807"/>
                      <a:pt x="730167" y="10582"/>
                    </a:cubicBezTo>
                    <a:cubicBezTo>
                      <a:pt x="736943" y="17358"/>
                      <a:pt x="740750" y="26547"/>
                      <a:pt x="740750" y="36130"/>
                    </a:cubicBezTo>
                    <a:lnTo>
                      <a:pt x="740750" y="382970"/>
                    </a:lnTo>
                    <a:cubicBezTo>
                      <a:pt x="740750" y="402924"/>
                      <a:pt x="724574" y="419100"/>
                      <a:pt x="704620" y="419100"/>
                    </a:cubicBezTo>
                    <a:lnTo>
                      <a:pt x="36130" y="419100"/>
                    </a:lnTo>
                    <a:cubicBezTo>
                      <a:pt x="16176" y="419100"/>
                      <a:pt x="0" y="402924"/>
                      <a:pt x="0" y="382970"/>
                    </a:cubicBezTo>
                    <a:lnTo>
                      <a:pt x="0" y="36130"/>
                    </a:lnTo>
                    <a:cubicBezTo>
                      <a:pt x="0" y="16176"/>
                      <a:pt x="16176" y="0"/>
                      <a:pt x="36130" y="0"/>
                    </a:cubicBezTo>
                    <a:close/>
                  </a:path>
                </a:pathLst>
              </a:custGeom>
              <a:solidFill>
                <a:srgbClr val="283755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740750" cy="466725"/>
              </a:xfrm>
              <a:prstGeom prst="rect">
                <a:avLst/>
              </a:prstGeom>
            </p:spPr>
            <p:txBody>
              <a:bodyPr lIns="28347" tIns="28347" rIns="28347" bIns="28347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210981" y="5635228"/>
              <a:ext cx="2678523" cy="1515450"/>
              <a:chOff x="0" y="0"/>
              <a:chExt cx="740750" cy="4191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7407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40750" h="419100">
                    <a:moveTo>
                      <a:pt x="36130" y="0"/>
                    </a:moveTo>
                    <a:lnTo>
                      <a:pt x="704620" y="0"/>
                    </a:lnTo>
                    <a:cubicBezTo>
                      <a:pt x="714202" y="0"/>
                      <a:pt x="723392" y="3807"/>
                      <a:pt x="730167" y="10582"/>
                    </a:cubicBezTo>
                    <a:cubicBezTo>
                      <a:pt x="736943" y="17358"/>
                      <a:pt x="740750" y="26547"/>
                      <a:pt x="740750" y="36130"/>
                    </a:cubicBezTo>
                    <a:lnTo>
                      <a:pt x="740750" y="382970"/>
                    </a:lnTo>
                    <a:cubicBezTo>
                      <a:pt x="740750" y="402924"/>
                      <a:pt x="724574" y="419100"/>
                      <a:pt x="704620" y="419100"/>
                    </a:cubicBezTo>
                    <a:lnTo>
                      <a:pt x="36130" y="419100"/>
                    </a:lnTo>
                    <a:cubicBezTo>
                      <a:pt x="16176" y="419100"/>
                      <a:pt x="0" y="402924"/>
                      <a:pt x="0" y="382970"/>
                    </a:cubicBezTo>
                    <a:lnTo>
                      <a:pt x="0" y="36130"/>
                    </a:lnTo>
                    <a:cubicBezTo>
                      <a:pt x="0" y="16176"/>
                      <a:pt x="16176" y="0"/>
                      <a:pt x="36130" y="0"/>
                    </a:cubicBezTo>
                    <a:close/>
                  </a:path>
                </a:pathLst>
              </a:custGeom>
              <a:solidFill>
                <a:srgbClr val="4A7EBB">
                  <a:alpha val="17647"/>
                </a:srgbClr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740750" cy="466725"/>
              </a:xfrm>
              <a:prstGeom prst="rect">
                <a:avLst/>
              </a:prstGeom>
            </p:spPr>
            <p:txBody>
              <a:bodyPr lIns="28347" tIns="28347" rIns="28347" bIns="28347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267552" y="7277678"/>
              <a:ext cx="2678523" cy="1515450"/>
              <a:chOff x="0" y="0"/>
              <a:chExt cx="740750" cy="4191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407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40750" h="419100">
                    <a:moveTo>
                      <a:pt x="36130" y="0"/>
                    </a:moveTo>
                    <a:lnTo>
                      <a:pt x="704620" y="0"/>
                    </a:lnTo>
                    <a:cubicBezTo>
                      <a:pt x="714202" y="0"/>
                      <a:pt x="723392" y="3807"/>
                      <a:pt x="730167" y="10582"/>
                    </a:cubicBezTo>
                    <a:cubicBezTo>
                      <a:pt x="736943" y="17358"/>
                      <a:pt x="740750" y="26547"/>
                      <a:pt x="740750" y="36130"/>
                    </a:cubicBezTo>
                    <a:lnTo>
                      <a:pt x="740750" y="382970"/>
                    </a:lnTo>
                    <a:cubicBezTo>
                      <a:pt x="740750" y="402924"/>
                      <a:pt x="724574" y="419100"/>
                      <a:pt x="704620" y="419100"/>
                    </a:cubicBezTo>
                    <a:lnTo>
                      <a:pt x="36130" y="419100"/>
                    </a:lnTo>
                    <a:cubicBezTo>
                      <a:pt x="16176" y="419100"/>
                      <a:pt x="0" y="402924"/>
                      <a:pt x="0" y="382970"/>
                    </a:cubicBezTo>
                    <a:lnTo>
                      <a:pt x="0" y="36130"/>
                    </a:lnTo>
                    <a:cubicBezTo>
                      <a:pt x="0" y="16176"/>
                      <a:pt x="16176" y="0"/>
                      <a:pt x="36130" y="0"/>
                    </a:cubicBezTo>
                    <a:close/>
                  </a:path>
                </a:pathLst>
              </a:custGeom>
              <a:solidFill>
                <a:srgbClr val="283755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740750" cy="466725"/>
              </a:xfrm>
              <a:prstGeom prst="rect">
                <a:avLst/>
              </a:prstGeom>
            </p:spPr>
            <p:txBody>
              <a:bodyPr lIns="28347" tIns="28347" rIns="28347" bIns="28347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267552" y="7277678"/>
              <a:ext cx="2678523" cy="1515450"/>
              <a:chOff x="0" y="0"/>
              <a:chExt cx="740750" cy="4191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407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40750" h="419100">
                    <a:moveTo>
                      <a:pt x="36130" y="0"/>
                    </a:moveTo>
                    <a:lnTo>
                      <a:pt x="704620" y="0"/>
                    </a:lnTo>
                    <a:cubicBezTo>
                      <a:pt x="714202" y="0"/>
                      <a:pt x="723392" y="3807"/>
                      <a:pt x="730167" y="10582"/>
                    </a:cubicBezTo>
                    <a:cubicBezTo>
                      <a:pt x="736943" y="17358"/>
                      <a:pt x="740750" y="26547"/>
                      <a:pt x="740750" y="36130"/>
                    </a:cubicBezTo>
                    <a:lnTo>
                      <a:pt x="740750" y="382970"/>
                    </a:lnTo>
                    <a:cubicBezTo>
                      <a:pt x="740750" y="402924"/>
                      <a:pt x="724574" y="419100"/>
                      <a:pt x="704620" y="419100"/>
                    </a:cubicBezTo>
                    <a:lnTo>
                      <a:pt x="36130" y="419100"/>
                    </a:lnTo>
                    <a:cubicBezTo>
                      <a:pt x="16176" y="419100"/>
                      <a:pt x="0" y="402924"/>
                      <a:pt x="0" y="382970"/>
                    </a:cubicBezTo>
                    <a:lnTo>
                      <a:pt x="0" y="36130"/>
                    </a:lnTo>
                    <a:cubicBezTo>
                      <a:pt x="0" y="16176"/>
                      <a:pt x="16176" y="0"/>
                      <a:pt x="36130" y="0"/>
                    </a:cubicBezTo>
                    <a:close/>
                  </a:path>
                </a:pathLst>
              </a:custGeom>
              <a:solidFill>
                <a:srgbClr val="4A7EBB">
                  <a:alpha val="17647"/>
                </a:srgbClr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47625"/>
                <a:ext cx="740750" cy="466725"/>
              </a:xfrm>
              <a:prstGeom prst="rect">
                <a:avLst/>
              </a:prstGeom>
            </p:spPr>
            <p:txBody>
              <a:bodyPr lIns="28347" tIns="28347" rIns="28347" bIns="28347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599463" y="1651145"/>
              <a:ext cx="2676014" cy="210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29"/>
                </a:lnSpc>
                <a:spcBef>
                  <a:spcPct val="0"/>
                </a:spcBef>
              </a:pPr>
              <a:r>
                <a:rPr lang="en-US" sz="102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Overall Progress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25947" y="1961574"/>
              <a:ext cx="390703" cy="210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29"/>
                </a:lnSpc>
                <a:spcBef>
                  <a:spcPct val="0"/>
                </a:spcBef>
              </a:pPr>
              <a:r>
                <a:rPr lang="en-US" sz="102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70%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2367367" y="2601332"/>
              <a:ext cx="420913" cy="420913"/>
            </a:xfrm>
            <a:custGeom>
              <a:avLst/>
              <a:gdLst/>
              <a:ahLst/>
              <a:cxnLst/>
              <a:rect l="l" t="t" r="r" b="b"/>
              <a:pathLst>
                <a:path w="420913" h="420913">
                  <a:moveTo>
                    <a:pt x="0" y="0"/>
                  </a:moveTo>
                  <a:lnTo>
                    <a:pt x="420912" y="0"/>
                  </a:lnTo>
                  <a:lnTo>
                    <a:pt x="420912" y="420913"/>
                  </a:lnTo>
                  <a:lnTo>
                    <a:pt x="0" y="420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2539912" y="2685658"/>
              <a:ext cx="75822" cy="233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84"/>
                </a:lnSpc>
              </a:pPr>
              <a:r>
                <a:rPr lang="en-US" sz="106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81446" y="2705085"/>
              <a:ext cx="1498301" cy="213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 b="1" spc="3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 Special Day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4425947" y="3422630"/>
              <a:ext cx="183744" cy="183744"/>
            </a:xfrm>
            <a:custGeom>
              <a:avLst/>
              <a:gdLst/>
              <a:ahLst/>
              <a:cxnLst/>
              <a:rect l="l" t="t" r="r" b="b"/>
              <a:pathLst>
                <a:path w="183744" h="183744">
                  <a:moveTo>
                    <a:pt x="0" y="0"/>
                  </a:moveTo>
                  <a:lnTo>
                    <a:pt x="183743" y="0"/>
                  </a:lnTo>
                  <a:lnTo>
                    <a:pt x="183743" y="183744"/>
                  </a:lnTo>
                  <a:lnTo>
                    <a:pt x="0" y="18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>
              <a:off x="2419373" y="3407731"/>
              <a:ext cx="183744" cy="183744"/>
            </a:xfrm>
            <a:custGeom>
              <a:avLst/>
              <a:gdLst/>
              <a:ahLst/>
              <a:cxnLst/>
              <a:rect l="l" t="t" r="r" b="b"/>
              <a:pathLst>
                <a:path w="183744" h="183744">
                  <a:moveTo>
                    <a:pt x="0" y="0"/>
                  </a:moveTo>
                  <a:lnTo>
                    <a:pt x="183744" y="0"/>
                  </a:lnTo>
                  <a:lnTo>
                    <a:pt x="183744" y="183743"/>
                  </a:lnTo>
                  <a:lnTo>
                    <a:pt x="0" y="183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2693077" y="3417663"/>
              <a:ext cx="650441" cy="188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6"/>
                </a:lnSpc>
                <a:spcBef>
                  <a:spcPct val="0"/>
                </a:spcBef>
              </a:pPr>
              <a:r>
                <a:rPr lang="en-US" sz="93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5 min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2398224" y="4245882"/>
              <a:ext cx="420913" cy="420913"/>
            </a:xfrm>
            <a:custGeom>
              <a:avLst/>
              <a:gdLst/>
              <a:ahLst/>
              <a:cxnLst/>
              <a:rect l="l" t="t" r="r" b="b"/>
              <a:pathLst>
                <a:path w="420913" h="420913">
                  <a:moveTo>
                    <a:pt x="0" y="0"/>
                  </a:moveTo>
                  <a:lnTo>
                    <a:pt x="420912" y="0"/>
                  </a:lnTo>
                  <a:lnTo>
                    <a:pt x="420912" y="420913"/>
                  </a:lnTo>
                  <a:lnTo>
                    <a:pt x="0" y="420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2570769" y="4339922"/>
              <a:ext cx="75822" cy="233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84"/>
                </a:lnSpc>
              </a:pPr>
              <a:r>
                <a:rPr lang="en-US" sz="106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912303" y="4349635"/>
              <a:ext cx="1498301" cy="213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 b="1" spc="3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Packaging Types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4456804" y="5067180"/>
              <a:ext cx="183744" cy="183744"/>
            </a:xfrm>
            <a:custGeom>
              <a:avLst/>
              <a:gdLst/>
              <a:ahLst/>
              <a:cxnLst/>
              <a:rect l="l" t="t" r="r" b="b"/>
              <a:pathLst>
                <a:path w="183744" h="183744">
                  <a:moveTo>
                    <a:pt x="0" y="0"/>
                  </a:moveTo>
                  <a:lnTo>
                    <a:pt x="183743" y="0"/>
                  </a:lnTo>
                  <a:lnTo>
                    <a:pt x="183743" y="183744"/>
                  </a:lnTo>
                  <a:lnTo>
                    <a:pt x="0" y="18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53" name="Freeform 53"/>
            <p:cNvSpPr/>
            <p:nvPr/>
          </p:nvSpPr>
          <p:spPr>
            <a:xfrm>
              <a:off x="2450230" y="5052281"/>
              <a:ext cx="183744" cy="183744"/>
            </a:xfrm>
            <a:custGeom>
              <a:avLst/>
              <a:gdLst/>
              <a:ahLst/>
              <a:cxnLst/>
              <a:rect l="l" t="t" r="r" b="b"/>
              <a:pathLst>
                <a:path w="183744" h="183744">
                  <a:moveTo>
                    <a:pt x="0" y="0"/>
                  </a:moveTo>
                  <a:lnTo>
                    <a:pt x="183744" y="0"/>
                  </a:lnTo>
                  <a:lnTo>
                    <a:pt x="183744" y="183744"/>
                  </a:lnTo>
                  <a:lnTo>
                    <a:pt x="0" y="18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4" name="Freeform 54"/>
            <p:cNvSpPr/>
            <p:nvPr/>
          </p:nvSpPr>
          <p:spPr>
            <a:xfrm>
              <a:off x="2382795" y="5889228"/>
              <a:ext cx="420913" cy="420913"/>
            </a:xfrm>
            <a:custGeom>
              <a:avLst/>
              <a:gdLst/>
              <a:ahLst/>
              <a:cxnLst/>
              <a:rect l="l" t="t" r="r" b="b"/>
              <a:pathLst>
                <a:path w="420913" h="420913">
                  <a:moveTo>
                    <a:pt x="0" y="0"/>
                  </a:moveTo>
                  <a:lnTo>
                    <a:pt x="420913" y="0"/>
                  </a:lnTo>
                  <a:lnTo>
                    <a:pt x="420913" y="420913"/>
                  </a:lnTo>
                  <a:lnTo>
                    <a:pt x="0" y="420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2539912" y="5973554"/>
              <a:ext cx="75822" cy="233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84"/>
                </a:lnSpc>
              </a:pPr>
              <a:r>
                <a:rPr lang="en-US" sz="106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896874" y="5992981"/>
              <a:ext cx="1636373" cy="442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 b="1" spc="3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Box Recommendation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2434802" y="6695627"/>
              <a:ext cx="183744" cy="183744"/>
            </a:xfrm>
            <a:custGeom>
              <a:avLst/>
              <a:gdLst/>
              <a:ahLst/>
              <a:cxnLst/>
              <a:rect l="l" t="t" r="r" b="b"/>
              <a:pathLst>
                <a:path w="183744" h="183744">
                  <a:moveTo>
                    <a:pt x="0" y="0"/>
                  </a:moveTo>
                  <a:lnTo>
                    <a:pt x="183743" y="0"/>
                  </a:lnTo>
                  <a:lnTo>
                    <a:pt x="183743" y="183743"/>
                  </a:lnTo>
                  <a:lnTo>
                    <a:pt x="0" y="183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2708505" y="6705559"/>
              <a:ext cx="650441" cy="188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6"/>
                </a:lnSpc>
                <a:spcBef>
                  <a:spcPct val="0"/>
                </a:spcBef>
              </a:pPr>
              <a:r>
                <a:rPr lang="en-US" sz="93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12 min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2413652" y="7533778"/>
              <a:ext cx="420913" cy="420913"/>
            </a:xfrm>
            <a:custGeom>
              <a:avLst/>
              <a:gdLst/>
              <a:ahLst/>
              <a:cxnLst/>
              <a:rect l="l" t="t" r="r" b="b"/>
              <a:pathLst>
                <a:path w="420913" h="420913">
                  <a:moveTo>
                    <a:pt x="0" y="0"/>
                  </a:moveTo>
                  <a:lnTo>
                    <a:pt x="420913" y="0"/>
                  </a:lnTo>
                  <a:lnTo>
                    <a:pt x="420913" y="420913"/>
                  </a:lnTo>
                  <a:lnTo>
                    <a:pt x="0" y="420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2570769" y="7614228"/>
              <a:ext cx="75822" cy="2332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84"/>
                </a:lnSpc>
              </a:pPr>
              <a:r>
                <a:rPr lang="en-US" sz="106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927731" y="7637531"/>
              <a:ext cx="1498301" cy="213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9"/>
                </a:lnSpc>
              </a:pPr>
              <a:r>
                <a:rPr lang="en-US" sz="999" b="1" spc="34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Using the tools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2465659" y="8340177"/>
              <a:ext cx="183744" cy="183744"/>
            </a:xfrm>
            <a:custGeom>
              <a:avLst/>
              <a:gdLst/>
              <a:ahLst/>
              <a:cxnLst/>
              <a:rect l="l" t="t" r="r" b="b"/>
              <a:pathLst>
                <a:path w="183744" h="183744">
                  <a:moveTo>
                    <a:pt x="0" y="0"/>
                  </a:moveTo>
                  <a:lnTo>
                    <a:pt x="183743" y="0"/>
                  </a:lnTo>
                  <a:lnTo>
                    <a:pt x="183743" y="183744"/>
                  </a:lnTo>
                  <a:lnTo>
                    <a:pt x="0" y="18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2739362" y="8350109"/>
              <a:ext cx="650441" cy="188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6"/>
                </a:lnSpc>
                <a:spcBef>
                  <a:spcPct val="0"/>
                </a:spcBef>
              </a:pPr>
              <a:r>
                <a:rPr lang="en-US" sz="93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10 min</a:t>
              </a:r>
            </a:p>
          </p:txBody>
        </p:sp>
        <p:pic>
          <p:nvPicPr>
            <p:cNvPr id="64" name="Picture 6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32966" y="6671789"/>
              <a:ext cx="226453" cy="226453"/>
            </a:xfrm>
            <a:prstGeom prst="rect">
              <a:avLst/>
            </a:prstGeom>
          </p:spPr>
        </p:pic>
        <p:pic>
          <p:nvPicPr>
            <p:cNvPr id="65" name="Picture 6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32966" y="8316339"/>
              <a:ext cx="226453" cy="226453"/>
            </a:xfrm>
            <a:prstGeom prst="rect">
              <a:avLst/>
            </a:prstGeom>
          </p:spPr>
        </p:pic>
        <p:grpSp>
          <p:nvGrpSpPr>
            <p:cNvPr id="66" name="Group 66"/>
            <p:cNvGrpSpPr/>
            <p:nvPr/>
          </p:nvGrpSpPr>
          <p:grpSpPr>
            <a:xfrm>
              <a:off x="797234" y="8920128"/>
              <a:ext cx="4148841" cy="842255"/>
              <a:chOff x="0" y="0"/>
              <a:chExt cx="1147368" cy="232927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1147368" cy="232927"/>
              </a:xfrm>
              <a:custGeom>
                <a:avLst/>
                <a:gdLst/>
                <a:ahLst/>
                <a:cxnLst/>
                <a:rect l="l" t="t" r="r" b="b"/>
                <a:pathLst>
                  <a:path w="1147368" h="232927">
                    <a:moveTo>
                      <a:pt x="23326" y="0"/>
                    </a:moveTo>
                    <a:lnTo>
                      <a:pt x="1124043" y="0"/>
                    </a:lnTo>
                    <a:cubicBezTo>
                      <a:pt x="1130229" y="0"/>
                      <a:pt x="1136162" y="2458"/>
                      <a:pt x="1140536" y="6832"/>
                    </a:cubicBezTo>
                    <a:cubicBezTo>
                      <a:pt x="1144911" y="11206"/>
                      <a:pt x="1147368" y="17139"/>
                      <a:pt x="1147368" y="23326"/>
                    </a:cubicBezTo>
                    <a:lnTo>
                      <a:pt x="1147368" y="209601"/>
                    </a:lnTo>
                    <a:cubicBezTo>
                      <a:pt x="1147368" y="215788"/>
                      <a:pt x="1144911" y="221721"/>
                      <a:pt x="1140536" y="226095"/>
                    </a:cubicBezTo>
                    <a:cubicBezTo>
                      <a:pt x="1136162" y="230469"/>
                      <a:pt x="1130229" y="232927"/>
                      <a:pt x="1124043" y="232927"/>
                    </a:cubicBezTo>
                    <a:lnTo>
                      <a:pt x="23326" y="232927"/>
                    </a:lnTo>
                    <a:cubicBezTo>
                      <a:pt x="17139" y="232927"/>
                      <a:pt x="11206" y="230469"/>
                      <a:pt x="6832" y="226095"/>
                    </a:cubicBezTo>
                    <a:cubicBezTo>
                      <a:pt x="2458" y="221721"/>
                      <a:pt x="0" y="215788"/>
                      <a:pt x="0" y="209601"/>
                    </a:cubicBezTo>
                    <a:lnTo>
                      <a:pt x="0" y="23326"/>
                    </a:lnTo>
                    <a:cubicBezTo>
                      <a:pt x="0" y="17139"/>
                      <a:pt x="2458" y="11206"/>
                      <a:pt x="6832" y="6832"/>
                    </a:cubicBezTo>
                    <a:cubicBezTo>
                      <a:pt x="11206" y="2458"/>
                      <a:pt x="17139" y="0"/>
                      <a:pt x="23326" y="0"/>
                    </a:cubicBezTo>
                    <a:close/>
                  </a:path>
                </a:pathLst>
              </a:custGeom>
              <a:solidFill>
                <a:srgbClr val="4A7EBB">
                  <a:alpha val="17647"/>
                </a:srgbClr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0" y="-47625"/>
                <a:ext cx="1147368" cy="280552"/>
              </a:xfrm>
              <a:prstGeom prst="rect">
                <a:avLst/>
              </a:prstGeom>
            </p:spPr>
            <p:txBody>
              <a:bodyPr lIns="28347" tIns="28347" rIns="28347" bIns="28347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sp>
          <p:nvSpPr>
            <p:cNvPr id="69" name="Freeform 69"/>
            <p:cNvSpPr/>
            <p:nvPr/>
          </p:nvSpPr>
          <p:spPr>
            <a:xfrm>
              <a:off x="1042286" y="9167822"/>
              <a:ext cx="414680" cy="366474"/>
            </a:xfrm>
            <a:custGeom>
              <a:avLst/>
              <a:gdLst/>
              <a:ahLst/>
              <a:cxnLst/>
              <a:rect l="l" t="t" r="r" b="b"/>
              <a:pathLst>
                <a:path w="414680" h="366474">
                  <a:moveTo>
                    <a:pt x="0" y="0"/>
                  </a:moveTo>
                  <a:lnTo>
                    <a:pt x="414680" y="0"/>
                  </a:lnTo>
                  <a:lnTo>
                    <a:pt x="414680" y="366473"/>
                  </a:lnTo>
                  <a:lnTo>
                    <a:pt x="0" y="366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1532513" y="9129165"/>
              <a:ext cx="3168510" cy="405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0"/>
                </a:lnSpc>
              </a:pPr>
              <a:r>
                <a:rPr lang="en-US" sz="600" spc="2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Managers play a key role in keeping our operations efficient.</a:t>
              </a:r>
            </a:p>
            <a:p>
              <a:pPr algn="l">
                <a:lnSpc>
                  <a:spcPts val="840"/>
                </a:lnSpc>
              </a:pPr>
              <a:r>
                <a:rPr lang="en-US" sz="600" spc="2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This training will help you understand the reccomendation criteria so you can resolve issues quickly.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846097" y="10023216"/>
              <a:ext cx="379702" cy="345055"/>
            </a:xfrm>
            <a:custGeom>
              <a:avLst/>
              <a:gdLst/>
              <a:ahLst/>
              <a:cxnLst/>
              <a:rect l="l" t="t" r="r" b="b"/>
              <a:pathLst>
                <a:path w="379702" h="345055">
                  <a:moveTo>
                    <a:pt x="0" y="0"/>
                  </a:moveTo>
                  <a:lnTo>
                    <a:pt x="379703" y="0"/>
                  </a:lnTo>
                  <a:lnTo>
                    <a:pt x="379703" y="345054"/>
                  </a:lnTo>
                  <a:lnTo>
                    <a:pt x="0" y="345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2" name="Freeform 72"/>
            <p:cNvSpPr/>
            <p:nvPr/>
          </p:nvSpPr>
          <p:spPr>
            <a:xfrm>
              <a:off x="3341185" y="10023216"/>
              <a:ext cx="409560" cy="345055"/>
            </a:xfrm>
            <a:custGeom>
              <a:avLst/>
              <a:gdLst/>
              <a:ahLst/>
              <a:cxnLst/>
              <a:rect l="l" t="t" r="r" b="b"/>
              <a:pathLst>
                <a:path w="409560" h="345055">
                  <a:moveTo>
                    <a:pt x="0" y="0"/>
                  </a:moveTo>
                  <a:lnTo>
                    <a:pt x="409560" y="0"/>
                  </a:lnTo>
                  <a:lnTo>
                    <a:pt x="409560" y="345054"/>
                  </a:lnTo>
                  <a:lnTo>
                    <a:pt x="0" y="345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3" name="Freeform 73"/>
            <p:cNvSpPr/>
            <p:nvPr/>
          </p:nvSpPr>
          <p:spPr>
            <a:xfrm>
              <a:off x="4667443" y="10023216"/>
              <a:ext cx="278632" cy="345055"/>
            </a:xfrm>
            <a:custGeom>
              <a:avLst/>
              <a:gdLst/>
              <a:ahLst/>
              <a:cxnLst/>
              <a:rect l="l" t="t" r="r" b="b"/>
              <a:pathLst>
                <a:path w="278632" h="345055">
                  <a:moveTo>
                    <a:pt x="0" y="0"/>
                  </a:moveTo>
                  <a:lnTo>
                    <a:pt x="278632" y="0"/>
                  </a:lnTo>
                  <a:lnTo>
                    <a:pt x="278632" y="345054"/>
                  </a:lnTo>
                  <a:lnTo>
                    <a:pt x="0" y="345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4" name="Freeform 74"/>
            <p:cNvSpPr/>
            <p:nvPr/>
          </p:nvSpPr>
          <p:spPr>
            <a:xfrm>
              <a:off x="2098983" y="10023216"/>
              <a:ext cx="327802" cy="345055"/>
            </a:xfrm>
            <a:custGeom>
              <a:avLst/>
              <a:gdLst/>
              <a:ahLst/>
              <a:cxnLst/>
              <a:rect l="l" t="t" r="r" b="b"/>
              <a:pathLst>
                <a:path w="327802" h="345055">
                  <a:moveTo>
                    <a:pt x="0" y="0"/>
                  </a:moveTo>
                  <a:lnTo>
                    <a:pt x="327802" y="0"/>
                  </a:lnTo>
                  <a:lnTo>
                    <a:pt x="327802" y="345054"/>
                  </a:lnTo>
                  <a:lnTo>
                    <a:pt x="0" y="345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5" name="Group 75"/>
            <p:cNvGrpSpPr/>
            <p:nvPr/>
          </p:nvGrpSpPr>
          <p:grpSpPr>
            <a:xfrm>
              <a:off x="615180" y="7277678"/>
              <a:ext cx="1312323" cy="1519650"/>
              <a:chOff x="0" y="0"/>
              <a:chExt cx="809627" cy="93753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809627" cy="937536"/>
              </a:xfrm>
              <a:custGeom>
                <a:avLst/>
                <a:gdLst/>
                <a:ahLst/>
                <a:cxnLst/>
                <a:rect l="l" t="t" r="r" b="b"/>
                <a:pathLst>
                  <a:path w="809627" h="937536">
                    <a:moveTo>
                      <a:pt x="94390" y="0"/>
                    </a:moveTo>
                    <a:lnTo>
                      <a:pt x="715237" y="0"/>
                    </a:lnTo>
                    <a:cubicBezTo>
                      <a:pt x="767367" y="0"/>
                      <a:pt x="809627" y="42260"/>
                      <a:pt x="809627" y="94390"/>
                    </a:cubicBezTo>
                    <a:lnTo>
                      <a:pt x="809627" y="843146"/>
                    </a:lnTo>
                    <a:cubicBezTo>
                      <a:pt x="809627" y="868180"/>
                      <a:pt x="799682" y="892188"/>
                      <a:pt x="781981" y="909890"/>
                    </a:cubicBezTo>
                    <a:cubicBezTo>
                      <a:pt x="764279" y="927591"/>
                      <a:pt x="740271" y="937536"/>
                      <a:pt x="715237" y="937536"/>
                    </a:cubicBezTo>
                    <a:lnTo>
                      <a:pt x="94390" y="937536"/>
                    </a:lnTo>
                    <a:cubicBezTo>
                      <a:pt x="42260" y="937536"/>
                      <a:pt x="0" y="895276"/>
                      <a:pt x="0" y="843146"/>
                    </a:cubicBezTo>
                    <a:lnTo>
                      <a:pt x="0" y="94390"/>
                    </a:lnTo>
                    <a:cubicBezTo>
                      <a:pt x="0" y="42260"/>
                      <a:pt x="42260" y="0"/>
                      <a:pt x="94390" y="0"/>
                    </a:cubicBezTo>
                    <a:close/>
                  </a:path>
                </a:pathLst>
              </a:custGeom>
              <a:blipFill>
                <a:blip r:embed="rId15"/>
                <a:stretch>
                  <a:fillRect l="-61330" t="-10319" r="-22279" b="-3842"/>
                </a:stretch>
              </a:blipFill>
            </p:spPr>
          </p:sp>
        </p:grpSp>
        <p:grpSp>
          <p:nvGrpSpPr>
            <p:cNvPr id="77" name="Group 77"/>
            <p:cNvGrpSpPr/>
            <p:nvPr/>
          </p:nvGrpSpPr>
          <p:grpSpPr>
            <a:xfrm>
              <a:off x="615180" y="5635228"/>
              <a:ext cx="1312323" cy="1515450"/>
              <a:chOff x="0" y="0"/>
              <a:chExt cx="809627" cy="93494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09627" cy="934945"/>
              </a:xfrm>
              <a:custGeom>
                <a:avLst/>
                <a:gdLst/>
                <a:ahLst/>
                <a:cxnLst/>
                <a:rect l="l" t="t" r="r" b="b"/>
                <a:pathLst>
                  <a:path w="809627" h="934945">
                    <a:moveTo>
                      <a:pt x="94390" y="0"/>
                    </a:moveTo>
                    <a:lnTo>
                      <a:pt x="715237" y="0"/>
                    </a:lnTo>
                    <a:cubicBezTo>
                      <a:pt x="767367" y="0"/>
                      <a:pt x="809627" y="42260"/>
                      <a:pt x="809627" y="94390"/>
                    </a:cubicBezTo>
                    <a:lnTo>
                      <a:pt x="809627" y="840554"/>
                    </a:lnTo>
                    <a:cubicBezTo>
                      <a:pt x="809627" y="892685"/>
                      <a:pt x="767367" y="934945"/>
                      <a:pt x="715237" y="934945"/>
                    </a:cubicBezTo>
                    <a:lnTo>
                      <a:pt x="94390" y="934945"/>
                    </a:lnTo>
                    <a:cubicBezTo>
                      <a:pt x="42260" y="934945"/>
                      <a:pt x="0" y="892685"/>
                      <a:pt x="0" y="840554"/>
                    </a:cubicBezTo>
                    <a:lnTo>
                      <a:pt x="0" y="94390"/>
                    </a:lnTo>
                    <a:cubicBezTo>
                      <a:pt x="0" y="42260"/>
                      <a:pt x="42260" y="0"/>
                      <a:pt x="94390" y="0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 l="-10761" r="-50090"/>
                </a:stretch>
              </a:blipFill>
            </p:spPr>
          </p:sp>
        </p:grpSp>
        <p:grpSp>
          <p:nvGrpSpPr>
            <p:cNvPr id="79" name="Group 79"/>
            <p:cNvGrpSpPr/>
            <p:nvPr/>
          </p:nvGrpSpPr>
          <p:grpSpPr>
            <a:xfrm>
              <a:off x="612608" y="3992778"/>
              <a:ext cx="1317466" cy="1515450"/>
              <a:chOff x="0" y="0"/>
              <a:chExt cx="812800" cy="93494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93494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34945">
                    <a:moveTo>
                      <a:pt x="94022" y="0"/>
                    </a:moveTo>
                    <a:lnTo>
                      <a:pt x="718778" y="0"/>
                    </a:lnTo>
                    <a:cubicBezTo>
                      <a:pt x="743714" y="0"/>
                      <a:pt x="767629" y="9906"/>
                      <a:pt x="785262" y="27538"/>
                    </a:cubicBezTo>
                    <a:cubicBezTo>
                      <a:pt x="802894" y="45171"/>
                      <a:pt x="812800" y="69086"/>
                      <a:pt x="812800" y="94022"/>
                    </a:cubicBezTo>
                    <a:lnTo>
                      <a:pt x="812800" y="840923"/>
                    </a:lnTo>
                    <a:cubicBezTo>
                      <a:pt x="812800" y="865859"/>
                      <a:pt x="802894" y="889774"/>
                      <a:pt x="785262" y="907406"/>
                    </a:cubicBezTo>
                    <a:cubicBezTo>
                      <a:pt x="767629" y="925039"/>
                      <a:pt x="743714" y="934945"/>
                      <a:pt x="718778" y="934945"/>
                    </a:cubicBezTo>
                    <a:lnTo>
                      <a:pt x="94022" y="934945"/>
                    </a:lnTo>
                    <a:cubicBezTo>
                      <a:pt x="69086" y="934945"/>
                      <a:pt x="45171" y="925039"/>
                      <a:pt x="27538" y="907406"/>
                    </a:cubicBezTo>
                    <a:cubicBezTo>
                      <a:pt x="9906" y="889774"/>
                      <a:pt x="0" y="865859"/>
                      <a:pt x="0" y="840923"/>
                    </a:cubicBezTo>
                    <a:lnTo>
                      <a:pt x="0" y="94022"/>
                    </a:lnTo>
                    <a:cubicBezTo>
                      <a:pt x="0" y="69086"/>
                      <a:pt x="9906" y="45171"/>
                      <a:pt x="27538" y="27538"/>
                    </a:cubicBezTo>
                    <a:cubicBezTo>
                      <a:pt x="45171" y="9906"/>
                      <a:pt x="69086" y="0"/>
                      <a:pt x="94022" y="0"/>
                    </a:cubicBezTo>
                    <a:close/>
                  </a:path>
                </a:pathLst>
              </a:custGeom>
              <a:blipFill>
                <a:blip r:embed="rId17"/>
                <a:stretch>
                  <a:fillRect l="-65915" t="-16417" r="-13406" b="-12991"/>
                </a:stretch>
              </a:blipFill>
            </p:spPr>
          </p:sp>
        </p:grpSp>
        <p:grpSp>
          <p:nvGrpSpPr>
            <p:cNvPr id="81" name="Group 81"/>
            <p:cNvGrpSpPr/>
            <p:nvPr/>
          </p:nvGrpSpPr>
          <p:grpSpPr>
            <a:xfrm>
              <a:off x="599463" y="2350328"/>
              <a:ext cx="1317466" cy="1515450"/>
              <a:chOff x="0" y="0"/>
              <a:chExt cx="812800" cy="93494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812800" cy="93494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34945">
                    <a:moveTo>
                      <a:pt x="94022" y="0"/>
                    </a:moveTo>
                    <a:lnTo>
                      <a:pt x="718778" y="0"/>
                    </a:lnTo>
                    <a:cubicBezTo>
                      <a:pt x="743714" y="0"/>
                      <a:pt x="767629" y="9906"/>
                      <a:pt x="785262" y="27538"/>
                    </a:cubicBezTo>
                    <a:cubicBezTo>
                      <a:pt x="802894" y="45171"/>
                      <a:pt x="812800" y="69086"/>
                      <a:pt x="812800" y="94022"/>
                    </a:cubicBezTo>
                    <a:lnTo>
                      <a:pt x="812800" y="840923"/>
                    </a:lnTo>
                    <a:cubicBezTo>
                      <a:pt x="812800" y="865859"/>
                      <a:pt x="802894" y="889774"/>
                      <a:pt x="785262" y="907406"/>
                    </a:cubicBezTo>
                    <a:cubicBezTo>
                      <a:pt x="767629" y="925039"/>
                      <a:pt x="743714" y="934945"/>
                      <a:pt x="718778" y="934945"/>
                    </a:cubicBezTo>
                    <a:lnTo>
                      <a:pt x="94022" y="934945"/>
                    </a:lnTo>
                    <a:cubicBezTo>
                      <a:pt x="69086" y="934945"/>
                      <a:pt x="45171" y="925039"/>
                      <a:pt x="27538" y="907406"/>
                    </a:cubicBezTo>
                    <a:cubicBezTo>
                      <a:pt x="9906" y="889774"/>
                      <a:pt x="0" y="865859"/>
                      <a:pt x="0" y="840923"/>
                    </a:cubicBezTo>
                    <a:lnTo>
                      <a:pt x="0" y="94022"/>
                    </a:lnTo>
                    <a:cubicBezTo>
                      <a:pt x="0" y="69086"/>
                      <a:pt x="9906" y="45171"/>
                      <a:pt x="27538" y="27538"/>
                    </a:cubicBezTo>
                    <a:cubicBezTo>
                      <a:pt x="45171" y="9906"/>
                      <a:pt x="69086" y="0"/>
                      <a:pt x="94022" y="0"/>
                    </a:cubicBezTo>
                    <a:close/>
                  </a:path>
                </a:pathLst>
              </a:custGeom>
              <a:blipFill>
                <a:blip r:embed="rId18"/>
                <a:stretch>
                  <a:fillRect l="-32845" t="-13276" r="-29079"/>
                </a:stretch>
              </a:blipFill>
            </p:spPr>
          </p:sp>
        </p:grpSp>
      </p:grpSp>
      <p:sp>
        <p:nvSpPr>
          <p:cNvPr id="83" name="TextBox 83"/>
          <p:cNvSpPr txBox="1"/>
          <p:nvPr/>
        </p:nvSpPr>
        <p:spPr>
          <a:xfrm>
            <a:off x="10846273" y="4825360"/>
            <a:ext cx="487831" cy="14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6"/>
              </a:lnSpc>
              <a:spcBef>
                <a:spcPct val="0"/>
              </a:spcBef>
            </a:pPr>
            <a:r>
              <a:rPr lang="en-US" sz="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 min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945879" y="2650746"/>
            <a:ext cx="4877477" cy="4985508"/>
            <a:chOff x="0" y="0"/>
            <a:chExt cx="6503303" cy="6647344"/>
          </a:xfrm>
        </p:grpSpPr>
        <p:sp>
          <p:nvSpPr>
            <p:cNvPr id="85" name="TextBox 85"/>
            <p:cNvSpPr txBox="1"/>
            <p:nvPr/>
          </p:nvSpPr>
          <p:spPr>
            <a:xfrm>
              <a:off x="208980" y="0"/>
              <a:ext cx="6294323" cy="392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67"/>
                </a:lnSpc>
              </a:pPr>
              <a:r>
                <a:rPr lang="en-US" sz="1972" b="1" spc="69">
                  <a:solidFill>
                    <a:srgbClr val="FF8C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REDESIGNED COURSE MAP</a:t>
              </a:r>
            </a:p>
          </p:txBody>
        </p:sp>
        <p:grpSp>
          <p:nvGrpSpPr>
            <p:cNvPr id="86" name="Group 86"/>
            <p:cNvGrpSpPr/>
            <p:nvPr/>
          </p:nvGrpSpPr>
          <p:grpSpPr>
            <a:xfrm>
              <a:off x="0" y="1462725"/>
              <a:ext cx="6294323" cy="854402"/>
              <a:chOff x="0" y="0"/>
              <a:chExt cx="6806213" cy="923887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88" name="Group 88"/>
            <p:cNvGrpSpPr/>
            <p:nvPr/>
          </p:nvGrpSpPr>
          <p:grpSpPr>
            <a:xfrm>
              <a:off x="0" y="2545130"/>
              <a:ext cx="6294323" cy="854402"/>
              <a:chOff x="0" y="0"/>
              <a:chExt cx="6806213" cy="923887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90" name="Group 90"/>
            <p:cNvGrpSpPr/>
            <p:nvPr/>
          </p:nvGrpSpPr>
          <p:grpSpPr>
            <a:xfrm>
              <a:off x="0" y="3627535"/>
              <a:ext cx="6294323" cy="854402"/>
              <a:chOff x="0" y="0"/>
              <a:chExt cx="6806213" cy="923887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92" name="Group 92"/>
            <p:cNvGrpSpPr/>
            <p:nvPr/>
          </p:nvGrpSpPr>
          <p:grpSpPr>
            <a:xfrm>
              <a:off x="0" y="4709940"/>
              <a:ext cx="6294323" cy="854402"/>
              <a:chOff x="0" y="0"/>
              <a:chExt cx="6806213" cy="923887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208980" y="1711003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Amazon branding integration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208980" y="2793408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Mobile-first vertical layout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208980" y="3875813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Progress tracking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208980" y="4958217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Large touch-friendly cards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208980" y="592564"/>
              <a:ext cx="5491804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1">
                  <a:solidFill>
                    <a:srgbClr val="23303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Vertical modular learning journey optimized for Desktop and Mobile</a:t>
              </a:r>
            </a:p>
          </p:txBody>
        </p:sp>
        <p:grpSp>
          <p:nvGrpSpPr>
            <p:cNvPr id="99" name="Group 99"/>
            <p:cNvGrpSpPr/>
            <p:nvPr/>
          </p:nvGrpSpPr>
          <p:grpSpPr>
            <a:xfrm>
              <a:off x="0" y="5792942"/>
              <a:ext cx="6294323" cy="854402"/>
              <a:chOff x="0" y="0"/>
              <a:chExt cx="6806213" cy="923887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208980" y="6041219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Improved readability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3513216" y="1236420"/>
            <a:ext cx="3746084" cy="7709803"/>
            <a:chOff x="0" y="0"/>
            <a:chExt cx="770799" cy="1586379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770799" cy="1586379"/>
            </a:xfrm>
            <a:custGeom>
              <a:avLst/>
              <a:gdLst/>
              <a:ahLst/>
              <a:cxnLst/>
              <a:rect l="l" t="t" r="r" b="b"/>
              <a:pathLst>
                <a:path w="770799" h="1586379">
                  <a:moveTo>
                    <a:pt x="0" y="0"/>
                  </a:moveTo>
                  <a:lnTo>
                    <a:pt x="770799" y="0"/>
                  </a:lnTo>
                  <a:lnTo>
                    <a:pt x="770799" y="1586379"/>
                  </a:lnTo>
                  <a:lnTo>
                    <a:pt x="0" y="1586379"/>
                  </a:lnTo>
                  <a:close/>
                </a:path>
              </a:pathLst>
            </a:custGeom>
            <a:solidFill>
              <a:srgbClr val="212D47"/>
            </a:solidFill>
          </p:spPr>
        </p:sp>
        <p:sp>
          <p:nvSpPr>
            <p:cNvPr id="104" name="TextBox 104"/>
            <p:cNvSpPr txBox="1"/>
            <p:nvPr/>
          </p:nvSpPr>
          <p:spPr>
            <a:xfrm>
              <a:off x="0" y="-47625"/>
              <a:ext cx="770799" cy="1634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sp>
        <p:nvSpPr>
          <p:cNvPr id="105" name="Freeform 105"/>
          <p:cNvSpPr/>
          <p:nvPr/>
        </p:nvSpPr>
        <p:spPr>
          <a:xfrm>
            <a:off x="13753507" y="1681078"/>
            <a:ext cx="938778" cy="340998"/>
          </a:xfrm>
          <a:custGeom>
            <a:avLst/>
            <a:gdLst/>
            <a:ahLst/>
            <a:cxnLst/>
            <a:rect l="l" t="t" r="r" b="b"/>
            <a:pathLst>
              <a:path w="938778" h="340998">
                <a:moveTo>
                  <a:pt x="0" y="0"/>
                </a:moveTo>
                <a:lnTo>
                  <a:pt x="938778" y="0"/>
                </a:lnTo>
                <a:lnTo>
                  <a:pt x="938778" y="340998"/>
                </a:lnTo>
                <a:lnTo>
                  <a:pt x="0" y="340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12" t="-34758" r="-3607" b="-37258"/>
            </a:stretch>
          </a:blipFill>
        </p:spPr>
      </p:sp>
      <p:sp>
        <p:nvSpPr>
          <p:cNvPr id="106" name="Freeform 106"/>
          <p:cNvSpPr/>
          <p:nvPr/>
        </p:nvSpPr>
        <p:spPr>
          <a:xfrm>
            <a:off x="16581884" y="1713060"/>
            <a:ext cx="198400" cy="173104"/>
          </a:xfrm>
          <a:custGeom>
            <a:avLst/>
            <a:gdLst/>
            <a:ahLst/>
            <a:cxnLst/>
            <a:rect l="l" t="t" r="r" b="b"/>
            <a:pathLst>
              <a:path w="198400" h="173104">
                <a:moveTo>
                  <a:pt x="0" y="0"/>
                </a:moveTo>
                <a:lnTo>
                  <a:pt x="198399" y="0"/>
                </a:lnTo>
                <a:lnTo>
                  <a:pt x="198399" y="173104"/>
                </a:lnTo>
                <a:lnTo>
                  <a:pt x="0" y="1731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7" name="AutoShape 107"/>
          <p:cNvSpPr/>
          <p:nvPr/>
        </p:nvSpPr>
        <p:spPr>
          <a:xfrm>
            <a:off x="15480687" y="2582591"/>
            <a:ext cx="919503" cy="2698"/>
          </a:xfrm>
          <a:prstGeom prst="line">
            <a:avLst/>
          </a:prstGeom>
          <a:ln w="142875" cap="rnd">
            <a:solidFill>
              <a:srgbClr val="E6E6E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8" name="Freeform 108"/>
          <p:cNvSpPr/>
          <p:nvPr/>
        </p:nvSpPr>
        <p:spPr>
          <a:xfrm>
            <a:off x="13753507" y="2512721"/>
            <a:ext cx="1872717" cy="145136"/>
          </a:xfrm>
          <a:custGeom>
            <a:avLst/>
            <a:gdLst/>
            <a:ahLst/>
            <a:cxnLst/>
            <a:rect l="l" t="t" r="r" b="b"/>
            <a:pathLst>
              <a:path w="1872717" h="145136">
                <a:moveTo>
                  <a:pt x="0" y="0"/>
                </a:moveTo>
                <a:lnTo>
                  <a:pt x="1872717" y="0"/>
                </a:lnTo>
                <a:lnTo>
                  <a:pt x="1872717" y="145136"/>
                </a:lnTo>
                <a:lnTo>
                  <a:pt x="0" y="145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9" name="Group 109"/>
          <p:cNvGrpSpPr/>
          <p:nvPr/>
        </p:nvGrpSpPr>
        <p:grpSpPr>
          <a:xfrm>
            <a:off x="14939003" y="2788296"/>
            <a:ext cx="2008892" cy="1136587"/>
            <a:chOff x="0" y="0"/>
            <a:chExt cx="740750" cy="41910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740750" cy="419100"/>
            </a:xfrm>
            <a:custGeom>
              <a:avLst/>
              <a:gdLst/>
              <a:ahLst/>
              <a:cxnLst/>
              <a:rect l="l" t="t" r="r" b="b"/>
              <a:pathLst>
                <a:path w="740750" h="419100">
                  <a:moveTo>
                    <a:pt x="36130" y="0"/>
                  </a:moveTo>
                  <a:lnTo>
                    <a:pt x="704620" y="0"/>
                  </a:lnTo>
                  <a:cubicBezTo>
                    <a:pt x="714202" y="0"/>
                    <a:pt x="723392" y="3807"/>
                    <a:pt x="730167" y="10582"/>
                  </a:cubicBezTo>
                  <a:cubicBezTo>
                    <a:pt x="736943" y="17358"/>
                    <a:pt x="740750" y="26547"/>
                    <a:pt x="740750" y="36130"/>
                  </a:cubicBezTo>
                  <a:lnTo>
                    <a:pt x="740750" y="382970"/>
                  </a:lnTo>
                  <a:cubicBezTo>
                    <a:pt x="740750" y="402924"/>
                    <a:pt x="724574" y="419100"/>
                    <a:pt x="704620" y="419100"/>
                  </a:cubicBezTo>
                  <a:lnTo>
                    <a:pt x="36130" y="419100"/>
                  </a:lnTo>
                  <a:cubicBezTo>
                    <a:pt x="16176" y="419100"/>
                    <a:pt x="0" y="402924"/>
                    <a:pt x="0" y="382970"/>
                  </a:cubicBezTo>
                  <a:lnTo>
                    <a:pt x="0" y="36130"/>
                  </a:lnTo>
                  <a:cubicBezTo>
                    <a:pt x="0" y="16176"/>
                    <a:pt x="16176" y="0"/>
                    <a:pt x="36130" y="0"/>
                  </a:cubicBezTo>
                  <a:close/>
                </a:path>
              </a:pathLst>
            </a:custGeom>
            <a:solidFill>
              <a:srgbClr val="283755"/>
            </a:solidFill>
          </p:spPr>
        </p:sp>
        <p:sp>
          <p:nvSpPr>
            <p:cNvPr id="111" name="TextBox 111"/>
            <p:cNvSpPr txBox="1"/>
            <p:nvPr/>
          </p:nvSpPr>
          <p:spPr>
            <a:xfrm>
              <a:off x="0" y="-47625"/>
              <a:ext cx="740750" cy="466725"/>
            </a:xfrm>
            <a:prstGeom prst="rect">
              <a:avLst/>
            </a:prstGeom>
          </p:spPr>
          <p:txBody>
            <a:bodyPr lIns="28347" tIns="28347" rIns="28347" bIns="28347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4939003" y="2788296"/>
            <a:ext cx="2008892" cy="1136587"/>
            <a:chOff x="0" y="0"/>
            <a:chExt cx="740750" cy="41910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740750" cy="419100"/>
            </a:xfrm>
            <a:custGeom>
              <a:avLst/>
              <a:gdLst/>
              <a:ahLst/>
              <a:cxnLst/>
              <a:rect l="l" t="t" r="r" b="b"/>
              <a:pathLst>
                <a:path w="740750" h="419100">
                  <a:moveTo>
                    <a:pt x="36130" y="0"/>
                  </a:moveTo>
                  <a:lnTo>
                    <a:pt x="704620" y="0"/>
                  </a:lnTo>
                  <a:cubicBezTo>
                    <a:pt x="714202" y="0"/>
                    <a:pt x="723392" y="3807"/>
                    <a:pt x="730167" y="10582"/>
                  </a:cubicBezTo>
                  <a:cubicBezTo>
                    <a:pt x="736943" y="17358"/>
                    <a:pt x="740750" y="26547"/>
                    <a:pt x="740750" y="36130"/>
                  </a:cubicBezTo>
                  <a:lnTo>
                    <a:pt x="740750" y="382970"/>
                  </a:lnTo>
                  <a:cubicBezTo>
                    <a:pt x="740750" y="402924"/>
                    <a:pt x="724574" y="419100"/>
                    <a:pt x="704620" y="419100"/>
                  </a:cubicBezTo>
                  <a:lnTo>
                    <a:pt x="36130" y="419100"/>
                  </a:lnTo>
                  <a:cubicBezTo>
                    <a:pt x="16176" y="419100"/>
                    <a:pt x="0" y="402924"/>
                    <a:pt x="0" y="382970"/>
                  </a:cubicBezTo>
                  <a:lnTo>
                    <a:pt x="0" y="36130"/>
                  </a:lnTo>
                  <a:cubicBezTo>
                    <a:pt x="0" y="16176"/>
                    <a:pt x="16176" y="0"/>
                    <a:pt x="36130" y="0"/>
                  </a:cubicBezTo>
                  <a:close/>
                </a:path>
              </a:pathLst>
            </a:custGeom>
            <a:solidFill>
              <a:srgbClr val="4A7EBB">
                <a:alpha val="17647"/>
              </a:srgbClr>
            </a:solidFill>
          </p:spPr>
        </p:sp>
        <p:sp>
          <p:nvSpPr>
            <p:cNvPr id="114" name="TextBox 114"/>
            <p:cNvSpPr txBox="1"/>
            <p:nvPr/>
          </p:nvSpPr>
          <p:spPr>
            <a:xfrm>
              <a:off x="0" y="-47625"/>
              <a:ext cx="740750" cy="466725"/>
            </a:xfrm>
            <a:prstGeom prst="rect">
              <a:avLst/>
            </a:prstGeom>
          </p:spPr>
          <p:txBody>
            <a:bodyPr lIns="28347" tIns="28347" rIns="28347" bIns="28347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4915860" y="4023283"/>
            <a:ext cx="2008892" cy="1136587"/>
            <a:chOff x="0" y="0"/>
            <a:chExt cx="740750" cy="41910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740750" cy="419100"/>
            </a:xfrm>
            <a:custGeom>
              <a:avLst/>
              <a:gdLst/>
              <a:ahLst/>
              <a:cxnLst/>
              <a:rect l="l" t="t" r="r" b="b"/>
              <a:pathLst>
                <a:path w="740750" h="419100">
                  <a:moveTo>
                    <a:pt x="36130" y="0"/>
                  </a:moveTo>
                  <a:lnTo>
                    <a:pt x="704620" y="0"/>
                  </a:lnTo>
                  <a:cubicBezTo>
                    <a:pt x="714202" y="0"/>
                    <a:pt x="723392" y="3807"/>
                    <a:pt x="730167" y="10582"/>
                  </a:cubicBezTo>
                  <a:cubicBezTo>
                    <a:pt x="736943" y="17358"/>
                    <a:pt x="740750" y="26547"/>
                    <a:pt x="740750" y="36130"/>
                  </a:cubicBezTo>
                  <a:lnTo>
                    <a:pt x="740750" y="382970"/>
                  </a:lnTo>
                  <a:cubicBezTo>
                    <a:pt x="740750" y="402924"/>
                    <a:pt x="724574" y="419100"/>
                    <a:pt x="704620" y="419100"/>
                  </a:cubicBezTo>
                  <a:lnTo>
                    <a:pt x="36130" y="419100"/>
                  </a:lnTo>
                  <a:cubicBezTo>
                    <a:pt x="16176" y="419100"/>
                    <a:pt x="0" y="402924"/>
                    <a:pt x="0" y="382970"/>
                  </a:cubicBezTo>
                  <a:lnTo>
                    <a:pt x="0" y="36130"/>
                  </a:lnTo>
                  <a:cubicBezTo>
                    <a:pt x="0" y="16176"/>
                    <a:pt x="16176" y="0"/>
                    <a:pt x="36130" y="0"/>
                  </a:cubicBezTo>
                  <a:close/>
                </a:path>
              </a:pathLst>
            </a:custGeom>
            <a:solidFill>
              <a:srgbClr val="283755"/>
            </a:solidFill>
          </p:spPr>
        </p:sp>
        <p:sp>
          <p:nvSpPr>
            <p:cNvPr id="117" name="TextBox 117"/>
            <p:cNvSpPr txBox="1"/>
            <p:nvPr/>
          </p:nvSpPr>
          <p:spPr>
            <a:xfrm>
              <a:off x="0" y="-47625"/>
              <a:ext cx="740750" cy="466725"/>
            </a:xfrm>
            <a:prstGeom prst="rect">
              <a:avLst/>
            </a:prstGeom>
          </p:spPr>
          <p:txBody>
            <a:bodyPr lIns="28347" tIns="28347" rIns="28347" bIns="28347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4915860" y="4023283"/>
            <a:ext cx="2008892" cy="1136587"/>
            <a:chOff x="0" y="0"/>
            <a:chExt cx="740750" cy="419100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740750" cy="419100"/>
            </a:xfrm>
            <a:custGeom>
              <a:avLst/>
              <a:gdLst/>
              <a:ahLst/>
              <a:cxnLst/>
              <a:rect l="l" t="t" r="r" b="b"/>
              <a:pathLst>
                <a:path w="740750" h="419100">
                  <a:moveTo>
                    <a:pt x="36130" y="0"/>
                  </a:moveTo>
                  <a:lnTo>
                    <a:pt x="704620" y="0"/>
                  </a:lnTo>
                  <a:cubicBezTo>
                    <a:pt x="714202" y="0"/>
                    <a:pt x="723392" y="3807"/>
                    <a:pt x="730167" y="10582"/>
                  </a:cubicBezTo>
                  <a:cubicBezTo>
                    <a:pt x="736943" y="17358"/>
                    <a:pt x="740750" y="26547"/>
                    <a:pt x="740750" y="36130"/>
                  </a:cubicBezTo>
                  <a:lnTo>
                    <a:pt x="740750" y="382970"/>
                  </a:lnTo>
                  <a:cubicBezTo>
                    <a:pt x="740750" y="402924"/>
                    <a:pt x="724574" y="419100"/>
                    <a:pt x="704620" y="419100"/>
                  </a:cubicBezTo>
                  <a:lnTo>
                    <a:pt x="36130" y="419100"/>
                  </a:lnTo>
                  <a:cubicBezTo>
                    <a:pt x="16176" y="419100"/>
                    <a:pt x="0" y="402924"/>
                    <a:pt x="0" y="382970"/>
                  </a:cubicBezTo>
                  <a:lnTo>
                    <a:pt x="0" y="36130"/>
                  </a:lnTo>
                  <a:cubicBezTo>
                    <a:pt x="0" y="16176"/>
                    <a:pt x="16176" y="0"/>
                    <a:pt x="36130" y="0"/>
                  </a:cubicBezTo>
                  <a:close/>
                </a:path>
              </a:pathLst>
            </a:custGeom>
            <a:solidFill>
              <a:srgbClr val="4A7EBB">
                <a:alpha val="17647"/>
              </a:srgbClr>
            </a:solidFill>
          </p:spPr>
        </p:sp>
        <p:sp>
          <p:nvSpPr>
            <p:cNvPr id="120" name="TextBox 120"/>
            <p:cNvSpPr txBox="1"/>
            <p:nvPr/>
          </p:nvSpPr>
          <p:spPr>
            <a:xfrm>
              <a:off x="0" y="-47625"/>
              <a:ext cx="740750" cy="466725"/>
            </a:xfrm>
            <a:prstGeom prst="rect">
              <a:avLst/>
            </a:prstGeom>
          </p:spPr>
          <p:txBody>
            <a:bodyPr lIns="28347" tIns="28347" rIns="28347" bIns="28347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4962146" y="5255121"/>
            <a:ext cx="2008892" cy="1136587"/>
            <a:chOff x="0" y="0"/>
            <a:chExt cx="740750" cy="41910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740750" cy="419100"/>
            </a:xfrm>
            <a:custGeom>
              <a:avLst/>
              <a:gdLst/>
              <a:ahLst/>
              <a:cxnLst/>
              <a:rect l="l" t="t" r="r" b="b"/>
              <a:pathLst>
                <a:path w="740750" h="419100">
                  <a:moveTo>
                    <a:pt x="36130" y="0"/>
                  </a:moveTo>
                  <a:lnTo>
                    <a:pt x="704620" y="0"/>
                  </a:lnTo>
                  <a:cubicBezTo>
                    <a:pt x="714202" y="0"/>
                    <a:pt x="723392" y="3807"/>
                    <a:pt x="730167" y="10582"/>
                  </a:cubicBezTo>
                  <a:cubicBezTo>
                    <a:pt x="736943" y="17358"/>
                    <a:pt x="740750" y="26547"/>
                    <a:pt x="740750" y="36130"/>
                  </a:cubicBezTo>
                  <a:lnTo>
                    <a:pt x="740750" y="382970"/>
                  </a:lnTo>
                  <a:cubicBezTo>
                    <a:pt x="740750" y="402924"/>
                    <a:pt x="724574" y="419100"/>
                    <a:pt x="704620" y="419100"/>
                  </a:cubicBezTo>
                  <a:lnTo>
                    <a:pt x="36130" y="419100"/>
                  </a:lnTo>
                  <a:cubicBezTo>
                    <a:pt x="16176" y="419100"/>
                    <a:pt x="0" y="402924"/>
                    <a:pt x="0" y="382970"/>
                  </a:cubicBezTo>
                  <a:lnTo>
                    <a:pt x="0" y="36130"/>
                  </a:lnTo>
                  <a:cubicBezTo>
                    <a:pt x="0" y="16176"/>
                    <a:pt x="16176" y="0"/>
                    <a:pt x="36130" y="0"/>
                  </a:cubicBezTo>
                  <a:close/>
                </a:path>
              </a:pathLst>
            </a:custGeom>
            <a:solidFill>
              <a:srgbClr val="283755"/>
            </a:solidFill>
          </p:spPr>
        </p:sp>
        <p:sp>
          <p:nvSpPr>
            <p:cNvPr id="123" name="TextBox 123"/>
            <p:cNvSpPr txBox="1"/>
            <p:nvPr/>
          </p:nvSpPr>
          <p:spPr>
            <a:xfrm>
              <a:off x="0" y="-47625"/>
              <a:ext cx="740750" cy="466725"/>
            </a:xfrm>
            <a:prstGeom prst="rect">
              <a:avLst/>
            </a:prstGeom>
          </p:spPr>
          <p:txBody>
            <a:bodyPr lIns="28347" tIns="28347" rIns="28347" bIns="28347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4962146" y="5255121"/>
            <a:ext cx="2008892" cy="1136587"/>
            <a:chOff x="0" y="0"/>
            <a:chExt cx="740750" cy="41910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740750" cy="419100"/>
            </a:xfrm>
            <a:custGeom>
              <a:avLst/>
              <a:gdLst/>
              <a:ahLst/>
              <a:cxnLst/>
              <a:rect l="l" t="t" r="r" b="b"/>
              <a:pathLst>
                <a:path w="740750" h="419100">
                  <a:moveTo>
                    <a:pt x="36130" y="0"/>
                  </a:moveTo>
                  <a:lnTo>
                    <a:pt x="704620" y="0"/>
                  </a:lnTo>
                  <a:cubicBezTo>
                    <a:pt x="714202" y="0"/>
                    <a:pt x="723392" y="3807"/>
                    <a:pt x="730167" y="10582"/>
                  </a:cubicBezTo>
                  <a:cubicBezTo>
                    <a:pt x="736943" y="17358"/>
                    <a:pt x="740750" y="26547"/>
                    <a:pt x="740750" y="36130"/>
                  </a:cubicBezTo>
                  <a:lnTo>
                    <a:pt x="740750" y="382970"/>
                  </a:lnTo>
                  <a:cubicBezTo>
                    <a:pt x="740750" y="402924"/>
                    <a:pt x="724574" y="419100"/>
                    <a:pt x="704620" y="419100"/>
                  </a:cubicBezTo>
                  <a:lnTo>
                    <a:pt x="36130" y="419100"/>
                  </a:lnTo>
                  <a:cubicBezTo>
                    <a:pt x="16176" y="419100"/>
                    <a:pt x="0" y="402924"/>
                    <a:pt x="0" y="382970"/>
                  </a:cubicBezTo>
                  <a:lnTo>
                    <a:pt x="0" y="36130"/>
                  </a:lnTo>
                  <a:cubicBezTo>
                    <a:pt x="0" y="16176"/>
                    <a:pt x="16176" y="0"/>
                    <a:pt x="36130" y="0"/>
                  </a:cubicBezTo>
                  <a:close/>
                </a:path>
              </a:pathLst>
            </a:custGeom>
            <a:solidFill>
              <a:srgbClr val="4A7EBB">
                <a:alpha val="17647"/>
              </a:srgbClr>
            </a:solidFill>
          </p:spPr>
        </p:sp>
        <p:sp>
          <p:nvSpPr>
            <p:cNvPr id="126" name="TextBox 126"/>
            <p:cNvSpPr txBox="1"/>
            <p:nvPr/>
          </p:nvSpPr>
          <p:spPr>
            <a:xfrm>
              <a:off x="0" y="-47625"/>
              <a:ext cx="740750" cy="466725"/>
            </a:xfrm>
            <a:prstGeom prst="rect">
              <a:avLst/>
            </a:prstGeom>
          </p:spPr>
          <p:txBody>
            <a:bodyPr lIns="28347" tIns="28347" rIns="28347" bIns="28347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5004574" y="6486958"/>
            <a:ext cx="2008892" cy="1136587"/>
            <a:chOff x="0" y="0"/>
            <a:chExt cx="740750" cy="41910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740750" cy="419100"/>
            </a:xfrm>
            <a:custGeom>
              <a:avLst/>
              <a:gdLst/>
              <a:ahLst/>
              <a:cxnLst/>
              <a:rect l="l" t="t" r="r" b="b"/>
              <a:pathLst>
                <a:path w="740750" h="419100">
                  <a:moveTo>
                    <a:pt x="36130" y="0"/>
                  </a:moveTo>
                  <a:lnTo>
                    <a:pt x="704620" y="0"/>
                  </a:lnTo>
                  <a:cubicBezTo>
                    <a:pt x="714202" y="0"/>
                    <a:pt x="723392" y="3807"/>
                    <a:pt x="730167" y="10582"/>
                  </a:cubicBezTo>
                  <a:cubicBezTo>
                    <a:pt x="736943" y="17358"/>
                    <a:pt x="740750" y="26547"/>
                    <a:pt x="740750" y="36130"/>
                  </a:cubicBezTo>
                  <a:lnTo>
                    <a:pt x="740750" y="382970"/>
                  </a:lnTo>
                  <a:cubicBezTo>
                    <a:pt x="740750" y="402924"/>
                    <a:pt x="724574" y="419100"/>
                    <a:pt x="704620" y="419100"/>
                  </a:cubicBezTo>
                  <a:lnTo>
                    <a:pt x="36130" y="419100"/>
                  </a:lnTo>
                  <a:cubicBezTo>
                    <a:pt x="16176" y="419100"/>
                    <a:pt x="0" y="402924"/>
                    <a:pt x="0" y="382970"/>
                  </a:cubicBezTo>
                  <a:lnTo>
                    <a:pt x="0" y="36130"/>
                  </a:lnTo>
                  <a:cubicBezTo>
                    <a:pt x="0" y="16176"/>
                    <a:pt x="16176" y="0"/>
                    <a:pt x="36130" y="0"/>
                  </a:cubicBezTo>
                  <a:close/>
                </a:path>
              </a:pathLst>
            </a:custGeom>
            <a:solidFill>
              <a:srgbClr val="283755"/>
            </a:solidFill>
          </p:spPr>
        </p:sp>
        <p:sp>
          <p:nvSpPr>
            <p:cNvPr id="129" name="TextBox 129"/>
            <p:cNvSpPr txBox="1"/>
            <p:nvPr/>
          </p:nvSpPr>
          <p:spPr>
            <a:xfrm>
              <a:off x="0" y="-47625"/>
              <a:ext cx="740750" cy="466725"/>
            </a:xfrm>
            <a:prstGeom prst="rect">
              <a:avLst/>
            </a:prstGeom>
          </p:spPr>
          <p:txBody>
            <a:bodyPr lIns="28347" tIns="28347" rIns="28347" bIns="28347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15004574" y="6486958"/>
            <a:ext cx="2008892" cy="1136587"/>
            <a:chOff x="0" y="0"/>
            <a:chExt cx="740750" cy="419100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740750" cy="419100"/>
            </a:xfrm>
            <a:custGeom>
              <a:avLst/>
              <a:gdLst/>
              <a:ahLst/>
              <a:cxnLst/>
              <a:rect l="l" t="t" r="r" b="b"/>
              <a:pathLst>
                <a:path w="740750" h="419100">
                  <a:moveTo>
                    <a:pt x="36130" y="0"/>
                  </a:moveTo>
                  <a:lnTo>
                    <a:pt x="704620" y="0"/>
                  </a:lnTo>
                  <a:cubicBezTo>
                    <a:pt x="714202" y="0"/>
                    <a:pt x="723392" y="3807"/>
                    <a:pt x="730167" y="10582"/>
                  </a:cubicBezTo>
                  <a:cubicBezTo>
                    <a:pt x="736943" y="17358"/>
                    <a:pt x="740750" y="26547"/>
                    <a:pt x="740750" y="36130"/>
                  </a:cubicBezTo>
                  <a:lnTo>
                    <a:pt x="740750" y="382970"/>
                  </a:lnTo>
                  <a:cubicBezTo>
                    <a:pt x="740750" y="402924"/>
                    <a:pt x="724574" y="419100"/>
                    <a:pt x="704620" y="419100"/>
                  </a:cubicBezTo>
                  <a:lnTo>
                    <a:pt x="36130" y="419100"/>
                  </a:lnTo>
                  <a:cubicBezTo>
                    <a:pt x="16176" y="419100"/>
                    <a:pt x="0" y="402924"/>
                    <a:pt x="0" y="382970"/>
                  </a:cubicBezTo>
                  <a:lnTo>
                    <a:pt x="0" y="36130"/>
                  </a:lnTo>
                  <a:cubicBezTo>
                    <a:pt x="0" y="16176"/>
                    <a:pt x="16176" y="0"/>
                    <a:pt x="36130" y="0"/>
                  </a:cubicBezTo>
                  <a:close/>
                </a:path>
              </a:pathLst>
            </a:custGeom>
            <a:solidFill>
              <a:srgbClr val="4A7EBB">
                <a:alpha val="17647"/>
              </a:srgbClr>
            </a:solidFill>
          </p:spPr>
        </p:sp>
        <p:sp>
          <p:nvSpPr>
            <p:cNvPr id="132" name="TextBox 132"/>
            <p:cNvSpPr txBox="1"/>
            <p:nvPr/>
          </p:nvSpPr>
          <p:spPr>
            <a:xfrm>
              <a:off x="0" y="-47625"/>
              <a:ext cx="740750" cy="466725"/>
            </a:xfrm>
            <a:prstGeom prst="rect">
              <a:avLst/>
            </a:prstGeom>
          </p:spPr>
          <p:txBody>
            <a:bodyPr lIns="28347" tIns="28347" rIns="28347" bIns="28347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sp>
        <p:nvSpPr>
          <p:cNvPr id="133" name="TextBox 133"/>
          <p:cNvSpPr txBox="1"/>
          <p:nvPr/>
        </p:nvSpPr>
        <p:spPr>
          <a:xfrm>
            <a:off x="13753507" y="2264678"/>
            <a:ext cx="2007010" cy="16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9"/>
              </a:lnSpc>
              <a:spcBef>
                <a:spcPct val="0"/>
              </a:spcBef>
            </a:pPr>
            <a:r>
              <a:rPr lang="en-US" sz="102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Overall Progress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6511465" y="2501629"/>
            <a:ext cx="339237" cy="16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9"/>
              </a:lnSpc>
              <a:spcBef>
                <a:spcPct val="0"/>
              </a:spcBef>
            </a:pPr>
            <a:r>
              <a:rPr lang="en-US" sz="102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70%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5079435" y="2979699"/>
            <a:ext cx="315685" cy="315685"/>
          </a:xfrm>
          <a:custGeom>
            <a:avLst/>
            <a:gdLst/>
            <a:ahLst/>
            <a:cxnLst/>
            <a:rect l="l" t="t" r="r" b="b"/>
            <a:pathLst>
              <a:path w="315685" h="315685">
                <a:moveTo>
                  <a:pt x="0" y="0"/>
                </a:moveTo>
                <a:lnTo>
                  <a:pt x="315684" y="0"/>
                </a:lnTo>
                <a:lnTo>
                  <a:pt x="315684" y="315684"/>
                </a:lnTo>
                <a:lnTo>
                  <a:pt x="0" y="315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6" name="TextBox 136"/>
          <p:cNvSpPr txBox="1"/>
          <p:nvPr/>
        </p:nvSpPr>
        <p:spPr>
          <a:xfrm>
            <a:off x="15208844" y="3038181"/>
            <a:ext cx="56866" cy="179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lang="en-US" sz="106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5464994" y="3052751"/>
            <a:ext cx="1123726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 spc="3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 Special Day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16623370" y="3595672"/>
            <a:ext cx="137808" cy="137808"/>
          </a:xfrm>
          <a:custGeom>
            <a:avLst/>
            <a:gdLst/>
            <a:ahLst/>
            <a:cxnLst/>
            <a:rect l="l" t="t" r="r" b="b"/>
            <a:pathLst>
              <a:path w="137808" h="137808">
                <a:moveTo>
                  <a:pt x="0" y="0"/>
                </a:moveTo>
                <a:lnTo>
                  <a:pt x="137807" y="0"/>
                </a:lnTo>
                <a:lnTo>
                  <a:pt x="137807" y="137808"/>
                </a:lnTo>
                <a:lnTo>
                  <a:pt x="0" y="1378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9" name="Freeform 139"/>
          <p:cNvSpPr/>
          <p:nvPr/>
        </p:nvSpPr>
        <p:spPr>
          <a:xfrm>
            <a:off x="15118439" y="3584498"/>
            <a:ext cx="137808" cy="137808"/>
          </a:xfrm>
          <a:custGeom>
            <a:avLst/>
            <a:gdLst/>
            <a:ahLst/>
            <a:cxnLst/>
            <a:rect l="l" t="t" r="r" b="b"/>
            <a:pathLst>
              <a:path w="137808" h="137808">
                <a:moveTo>
                  <a:pt x="0" y="0"/>
                </a:moveTo>
                <a:lnTo>
                  <a:pt x="137808" y="0"/>
                </a:lnTo>
                <a:lnTo>
                  <a:pt x="137808" y="137808"/>
                </a:lnTo>
                <a:lnTo>
                  <a:pt x="0" y="137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0" name="TextBox 140"/>
          <p:cNvSpPr txBox="1"/>
          <p:nvPr/>
        </p:nvSpPr>
        <p:spPr>
          <a:xfrm>
            <a:off x="15323717" y="3591947"/>
            <a:ext cx="487831" cy="14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6"/>
              </a:lnSpc>
              <a:spcBef>
                <a:spcPct val="0"/>
              </a:spcBef>
            </a:pPr>
            <a:r>
              <a:rPr lang="en-US" sz="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 min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15102578" y="4213111"/>
            <a:ext cx="315685" cy="315685"/>
          </a:xfrm>
          <a:custGeom>
            <a:avLst/>
            <a:gdLst/>
            <a:ahLst/>
            <a:cxnLst/>
            <a:rect l="l" t="t" r="r" b="b"/>
            <a:pathLst>
              <a:path w="315685" h="315685">
                <a:moveTo>
                  <a:pt x="0" y="0"/>
                </a:moveTo>
                <a:lnTo>
                  <a:pt x="315684" y="0"/>
                </a:lnTo>
                <a:lnTo>
                  <a:pt x="315684" y="315685"/>
                </a:lnTo>
                <a:lnTo>
                  <a:pt x="0" y="315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2" name="TextBox 142"/>
          <p:cNvSpPr txBox="1"/>
          <p:nvPr/>
        </p:nvSpPr>
        <p:spPr>
          <a:xfrm>
            <a:off x="15227814" y="4271593"/>
            <a:ext cx="56866" cy="179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lang="en-US" sz="106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5488137" y="4286164"/>
            <a:ext cx="1123726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 spc="3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Packaging Types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16646512" y="4829085"/>
            <a:ext cx="137808" cy="137808"/>
          </a:xfrm>
          <a:custGeom>
            <a:avLst/>
            <a:gdLst/>
            <a:ahLst/>
            <a:cxnLst/>
            <a:rect l="l" t="t" r="r" b="b"/>
            <a:pathLst>
              <a:path w="137808" h="137808">
                <a:moveTo>
                  <a:pt x="0" y="0"/>
                </a:moveTo>
                <a:lnTo>
                  <a:pt x="137808" y="0"/>
                </a:lnTo>
                <a:lnTo>
                  <a:pt x="137808" y="137808"/>
                </a:lnTo>
                <a:lnTo>
                  <a:pt x="0" y="1378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5" name="Freeform 145"/>
          <p:cNvSpPr/>
          <p:nvPr/>
        </p:nvSpPr>
        <p:spPr>
          <a:xfrm>
            <a:off x="15141582" y="4817911"/>
            <a:ext cx="137808" cy="137808"/>
          </a:xfrm>
          <a:custGeom>
            <a:avLst/>
            <a:gdLst/>
            <a:ahLst/>
            <a:cxnLst/>
            <a:rect l="l" t="t" r="r" b="b"/>
            <a:pathLst>
              <a:path w="137808" h="137808">
                <a:moveTo>
                  <a:pt x="0" y="0"/>
                </a:moveTo>
                <a:lnTo>
                  <a:pt x="137808" y="0"/>
                </a:lnTo>
                <a:lnTo>
                  <a:pt x="137808" y="137807"/>
                </a:lnTo>
                <a:lnTo>
                  <a:pt x="0" y="137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6" name="TextBox 146"/>
          <p:cNvSpPr txBox="1"/>
          <p:nvPr/>
        </p:nvSpPr>
        <p:spPr>
          <a:xfrm>
            <a:off x="15346860" y="4825360"/>
            <a:ext cx="487831" cy="14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6"/>
              </a:lnSpc>
              <a:spcBef>
                <a:spcPct val="0"/>
              </a:spcBef>
            </a:pPr>
            <a:r>
              <a:rPr lang="en-US" sz="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 min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15091006" y="5445621"/>
            <a:ext cx="315685" cy="315685"/>
          </a:xfrm>
          <a:custGeom>
            <a:avLst/>
            <a:gdLst/>
            <a:ahLst/>
            <a:cxnLst/>
            <a:rect l="l" t="t" r="r" b="b"/>
            <a:pathLst>
              <a:path w="315685" h="315685">
                <a:moveTo>
                  <a:pt x="0" y="0"/>
                </a:moveTo>
                <a:lnTo>
                  <a:pt x="315685" y="0"/>
                </a:lnTo>
                <a:lnTo>
                  <a:pt x="315685" y="315684"/>
                </a:lnTo>
                <a:lnTo>
                  <a:pt x="0" y="315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8" name="TextBox 148"/>
          <p:cNvSpPr txBox="1"/>
          <p:nvPr/>
        </p:nvSpPr>
        <p:spPr>
          <a:xfrm>
            <a:off x="15208844" y="5516803"/>
            <a:ext cx="56866" cy="179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lang="en-US" sz="106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5476565" y="5518673"/>
            <a:ext cx="1227280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 spc="3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Box Recommendation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15130011" y="6050420"/>
            <a:ext cx="137808" cy="137808"/>
          </a:xfrm>
          <a:custGeom>
            <a:avLst/>
            <a:gdLst/>
            <a:ahLst/>
            <a:cxnLst/>
            <a:rect l="l" t="t" r="r" b="b"/>
            <a:pathLst>
              <a:path w="137808" h="137808">
                <a:moveTo>
                  <a:pt x="0" y="0"/>
                </a:moveTo>
                <a:lnTo>
                  <a:pt x="137808" y="0"/>
                </a:lnTo>
                <a:lnTo>
                  <a:pt x="137808" y="137808"/>
                </a:lnTo>
                <a:lnTo>
                  <a:pt x="0" y="137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1" name="TextBox 151"/>
          <p:cNvSpPr txBox="1"/>
          <p:nvPr/>
        </p:nvSpPr>
        <p:spPr>
          <a:xfrm>
            <a:off x="15335289" y="6057869"/>
            <a:ext cx="487831" cy="14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6"/>
              </a:lnSpc>
              <a:spcBef>
                <a:spcPct val="0"/>
              </a:spcBef>
            </a:pPr>
            <a:r>
              <a:rPr lang="en-US" sz="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12 min</a:t>
            </a:r>
          </a:p>
        </p:txBody>
      </p:sp>
      <p:sp>
        <p:nvSpPr>
          <p:cNvPr id="152" name="Freeform 152"/>
          <p:cNvSpPr/>
          <p:nvPr/>
        </p:nvSpPr>
        <p:spPr>
          <a:xfrm>
            <a:off x="15114149" y="6679033"/>
            <a:ext cx="315685" cy="315685"/>
          </a:xfrm>
          <a:custGeom>
            <a:avLst/>
            <a:gdLst/>
            <a:ahLst/>
            <a:cxnLst/>
            <a:rect l="l" t="t" r="r" b="b"/>
            <a:pathLst>
              <a:path w="315685" h="315685">
                <a:moveTo>
                  <a:pt x="0" y="0"/>
                </a:moveTo>
                <a:lnTo>
                  <a:pt x="315684" y="0"/>
                </a:lnTo>
                <a:lnTo>
                  <a:pt x="315684" y="315685"/>
                </a:lnTo>
                <a:lnTo>
                  <a:pt x="0" y="315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3" name="TextBox 153"/>
          <p:cNvSpPr txBox="1"/>
          <p:nvPr/>
        </p:nvSpPr>
        <p:spPr>
          <a:xfrm>
            <a:off x="15243558" y="6744133"/>
            <a:ext cx="56866" cy="179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lang="en-US" sz="106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15499708" y="6752086"/>
            <a:ext cx="1123726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 spc="3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Using the tools</a:t>
            </a:r>
          </a:p>
        </p:txBody>
      </p:sp>
      <p:sp>
        <p:nvSpPr>
          <p:cNvPr id="155" name="Freeform 155"/>
          <p:cNvSpPr/>
          <p:nvPr/>
        </p:nvSpPr>
        <p:spPr>
          <a:xfrm>
            <a:off x="15153154" y="7283833"/>
            <a:ext cx="137808" cy="137808"/>
          </a:xfrm>
          <a:custGeom>
            <a:avLst/>
            <a:gdLst/>
            <a:ahLst/>
            <a:cxnLst/>
            <a:rect l="l" t="t" r="r" b="b"/>
            <a:pathLst>
              <a:path w="137808" h="137808">
                <a:moveTo>
                  <a:pt x="0" y="0"/>
                </a:moveTo>
                <a:lnTo>
                  <a:pt x="137807" y="0"/>
                </a:lnTo>
                <a:lnTo>
                  <a:pt x="137807" y="137807"/>
                </a:lnTo>
                <a:lnTo>
                  <a:pt x="0" y="137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6" name="TextBox 156"/>
          <p:cNvSpPr txBox="1"/>
          <p:nvPr/>
        </p:nvSpPr>
        <p:spPr>
          <a:xfrm>
            <a:off x="15358432" y="7291282"/>
            <a:ext cx="487831" cy="14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6"/>
              </a:lnSpc>
              <a:spcBef>
                <a:spcPct val="0"/>
              </a:spcBef>
            </a:pPr>
            <a:r>
              <a:rPr lang="en-US" sz="9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 min</a:t>
            </a:r>
          </a:p>
        </p:txBody>
      </p:sp>
      <p:pic>
        <p:nvPicPr>
          <p:cNvPr id="157" name="Picture 15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628634" y="6032542"/>
            <a:ext cx="169840" cy="169840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628634" y="7265954"/>
            <a:ext cx="169840" cy="169840"/>
          </a:xfrm>
          <a:prstGeom prst="rect">
            <a:avLst/>
          </a:prstGeom>
        </p:spPr>
      </p:pic>
      <p:grpSp>
        <p:nvGrpSpPr>
          <p:cNvPr id="159" name="Group 159"/>
          <p:cNvGrpSpPr/>
          <p:nvPr/>
        </p:nvGrpSpPr>
        <p:grpSpPr>
          <a:xfrm>
            <a:off x="13901835" y="7718796"/>
            <a:ext cx="3111631" cy="631691"/>
            <a:chOff x="0" y="0"/>
            <a:chExt cx="1147368" cy="232927"/>
          </a:xfrm>
        </p:grpSpPr>
        <p:sp>
          <p:nvSpPr>
            <p:cNvPr id="160" name="Freeform 160"/>
            <p:cNvSpPr/>
            <p:nvPr/>
          </p:nvSpPr>
          <p:spPr>
            <a:xfrm>
              <a:off x="0" y="0"/>
              <a:ext cx="1147368" cy="232927"/>
            </a:xfrm>
            <a:custGeom>
              <a:avLst/>
              <a:gdLst/>
              <a:ahLst/>
              <a:cxnLst/>
              <a:rect l="l" t="t" r="r" b="b"/>
              <a:pathLst>
                <a:path w="1147368" h="232927">
                  <a:moveTo>
                    <a:pt x="23326" y="0"/>
                  </a:moveTo>
                  <a:lnTo>
                    <a:pt x="1124043" y="0"/>
                  </a:lnTo>
                  <a:cubicBezTo>
                    <a:pt x="1130229" y="0"/>
                    <a:pt x="1136162" y="2458"/>
                    <a:pt x="1140536" y="6832"/>
                  </a:cubicBezTo>
                  <a:cubicBezTo>
                    <a:pt x="1144911" y="11206"/>
                    <a:pt x="1147368" y="17139"/>
                    <a:pt x="1147368" y="23326"/>
                  </a:cubicBezTo>
                  <a:lnTo>
                    <a:pt x="1147368" y="209601"/>
                  </a:lnTo>
                  <a:cubicBezTo>
                    <a:pt x="1147368" y="215788"/>
                    <a:pt x="1144911" y="221721"/>
                    <a:pt x="1140536" y="226095"/>
                  </a:cubicBezTo>
                  <a:cubicBezTo>
                    <a:pt x="1136162" y="230469"/>
                    <a:pt x="1130229" y="232927"/>
                    <a:pt x="1124043" y="232927"/>
                  </a:cubicBezTo>
                  <a:lnTo>
                    <a:pt x="23326" y="232927"/>
                  </a:lnTo>
                  <a:cubicBezTo>
                    <a:pt x="17139" y="232927"/>
                    <a:pt x="11206" y="230469"/>
                    <a:pt x="6832" y="226095"/>
                  </a:cubicBezTo>
                  <a:cubicBezTo>
                    <a:pt x="2458" y="221721"/>
                    <a:pt x="0" y="215788"/>
                    <a:pt x="0" y="209601"/>
                  </a:cubicBezTo>
                  <a:lnTo>
                    <a:pt x="0" y="23326"/>
                  </a:lnTo>
                  <a:cubicBezTo>
                    <a:pt x="0" y="17139"/>
                    <a:pt x="2458" y="11206"/>
                    <a:pt x="6832" y="6832"/>
                  </a:cubicBezTo>
                  <a:cubicBezTo>
                    <a:pt x="11206" y="2458"/>
                    <a:pt x="17139" y="0"/>
                    <a:pt x="23326" y="0"/>
                  </a:cubicBezTo>
                  <a:close/>
                </a:path>
              </a:pathLst>
            </a:custGeom>
            <a:solidFill>
              <a:srgbClr val="4A7EBB">
                <a:alpha val="17647"/>
              </a:srgbClr>
            </a:solidFill>
          </p:spPr>
        </p:sp>
        <p:sp>
          <p:nvSpPr>
            <p:cNvPr id="161" name="TextBox 161"/>
            <p:cNvSpPr txBox="1"/>
            <p:nvPr/>
          </p:nvSpPr>
          <p:spPr>
            <a:xfrm>
              <a:off x="0" y="-47625"/>
              <a:ext cx="1147368" cy="280552"/>
            </a:xfrm>
            <a:prstGeom prst="rect">
              <a:avLst/>
            </a:prstGeom>
          </p:spPr>
          <p:txBody>
            <a:bodyPr lIns="28347" tIns="28347" rIns="28347" bIns="28347" rtlCol="0" anchor="ctr"/>
            <a:lstStyle/>
            <a:p>
              <a:pPr algn="ctr">
                <a:lnSpc>
                  <a:spcPts val="3060"/>
                </a:lnSpc>
              </a:pPr>
              <a:endParaRPr/>
            </a:p>
          </p:txBody>
        </p:sp>
      </p:grpSp>
      <p:sp>
        <p:nvSpPr>
          <p:cNvPr id="162" name="Freeform 162"/>
          <p:cNvSpPr/>
          <p:nvPr/>
        </p:nvSpPr>
        <p:spPr>
          <a:xfrm>
            <a:off x="14085624" y="7904566"/>
            <a:ext cx="311010" cy="274855"/>
          </a:xfrm>
          <a:custGeom>
            <a:avLst/>
            <a:gdLst/>
            <a:ahLst/>
            <a:cxnLst/>
            <a:rect l="l" t="t" r="r" b="b"/>
            <a:pathLst>
              <a:path w="311010" h="274855">
                <a:moveTo>
                  <a:pt x="0" y="0"/>
                </a:moveTo>
                <a:lnTo>
                  <a:pt x="311010" y="0"/>
                </a:lnTo>
                <a:lnTo>
                  <a:pt x="311010" y="274856"/>
                </a:lnTo>
                <a:lnTo>
                  <a:pt x="0" y="274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3" name="TextBox 163"/>
          <p:cNvSpPr txBox="1"/>
          <p:nvPr/>
        </p:nvSpPr>
        <p:spPr>
          <a:xfrm>
            <a:off x="14453295" y="7870811"/>
            <a:ext cx="2376383" cy="30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"/>
              </a:lnSpc>
            </a:pPr>
            <a:r>
              <a:rPr lang="en-US" sz="600" spc="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Managers play a key role in keeping our operations efficient.</a:t>
            </a:r>
          </a:p>
          <a:p>
            <a:pPr algn="l">
              <a:lnSpc>
                <a:spcPts val="840"/>
              </a:lnSpc>
            </a:pPr>
            <a:r>
              <a:rPr lang="en-US" sz="600" spc="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training will help you understand the reccomendation criteria so you can resolve issues quickly.</a:t>
            </a:r>
          </a:p>
        </p:txBody>
      </p:sp>
      <p:grpSp>
        <p:nvGrpSpPr>
          <p:cNvPr id="164" name="Group 164"/>
          <p:cNvGrpSpPr/>
          <p:nvPr/>
        </p:nvGrpSpPr>
        <p:grpSpPr>
          <a:xfrm>
            <a:off x="13513216" y="8470174"/>
            <a:ext cx="3746084" cy="476049"/>
            <a:chOff x="0" y="0"/>
            <a:chExt cx="4994779" cy="634732"/>
          </a:xfrm>
        </p:grpSpPr>
        <p:grpSp>
          <p:nvGrpSpPr>
            <p:cNvPr id="165" name="Group 165"/>
            <p:cNvGrpSpPr/>
            <p:nvPr/>
          </p:nvGrpSpPr>
          <p:grpSpPr>
            <a:xfrm>
              <a:off x="0" y="0"/>
              <a:ext cx="4994779" cy="634732"/>
              <a:chOff x="0" y="0"/>
              <a:chExt cx="770799" cy="97952"/>
            </a:xfrm>
          </p:grpSpPr>
          <p:sp>
            <p:nvSpPr>
              <p:cNvPr id="166" name="Freeform 166"/>
              <p:cNvSpPr/>
              <p:nvPr/>
            </p:nvSpPr>
            <p:spPr>
              <a:xfrm>
                <a:off x="0" y="0"/>
                <a:ext cx="770799" cy="97952"/>
              </a:xfrm>
              <a:custGeom>
                <a:avLst/>
                <a:gdLst/>
                <a:ahLst/>
                <a:cxnLst/>
                <a:rect l="l" t="t" r="r" b="b"/>
                <a:pathLst>
                  <a:path w="770799" h="97952">
                    <a:moveTo>
                      <a:pt x="0" y="0"/>
                    </a:moveTo>
                    <a:lnTo>
                      <a:pt x="770799" y="0"/>
                    </a:lnTo>
                    <a:lnTo>
                      <a:pt x="770799" y="97952"/>
                    </a:lnTo>
                    <a:lnTo>
                      <a:pt x="0" y="97952"/>
                    </a:lnTo>
                    <a:close/>
                  </a:path>
                </a:pathLst>
              </a:custGeom>
              <a:solidFill>
                <a:srgbClr val="0F172A"/>
              </a:solidFill>
            </p:spPr>
          </p:sp>
          <p:sp>
            <p:nvSpPr>
              <p:cNvPr id="167" name="TextBox 167"/>
              <p:cNvSpPr txBox="1"/>
              <p:nvPr/>
            </p:nvSpPr>
            <p:spPr>
              <a:xfrm>
                <a:off x="0" y="-47625"/>
                <a:ext cx="770799" cy="1455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sp>
          <p:nvSpPr>
            <p:cNvPr id="168" name="Freeform 168"/>
            <p:cNvSpPr/>
            <p:nvPr/>
          </p:nvSpPr>
          <p:spPr>
            <a:xfrm>
              <a:off x="463422" y="101250"/>
              <a:ext cx="379702" cy="345055"/>
            </a:xfrm>
            <a:custGeom>
              <a:avLst/>
              <a:gdLst/>
              <a:ahLst/>
              <a:cxnLst/>
              <a:rect l="l" t="t" r="r" b="b"/>
              <a:pathLst>
                <a:path w="379702" h="345055">
                  <a:moveTo>
                    <a:pt x="0" y="0"/>
                  </a:moveTo>
                  <a:lnTo>
                    <a:pt x="379703" y="0"/>
                  </a:lnTo>
                  <a:lnTo>
                    <a:pt x="379703" y="345055"/>
                  </a:lnTo>
                  <a:lnTo>
                    <a:pt x="0" y="345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9" name="Freeform 169"/>
            <p:cNvSpPr/>
            <p:nvPr/>
          </p:nvSpPr>
          <p:spPr>
            <a:xfrm>
              <a:off x="2958510" y="101250"/>
              <a:ext cx="409560" cy="345055"/>
            </a:xfrm>
            <a:custGeom>
              <a:avLst/>
              <a:gdLst/>
              <a:ahLst/>
              <a:cxnLst/>
              <a:rect l="l" t="t" r="r" b="b"/>
              <a:pathLst>
                <a:path w="409560" h="345055">
                  <a:moveTo>
                    <a:pt x="0" y="0"/>
                  </a:moveTo>
                  <a:lnTo>
                    <a:pt x="409560" y="0"/>
                  </a:lnTo>
                  <a:lnTo>
                    <a:pt x="409560" y="345055"/>
                  </a:lnTo>
                  <a:lnTo>
                    <a:pt x="0" y="345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0" name="Freeform 170"/>
            <p:cNvSpPr/>
            <p:nvPr/>
          </p:nvSpPr>
          <p:spPr>
            <a:xfrm>
              <a:off x="4284769" y="101250"/>
              <a:ext cx="278632" cy="345055"/>
            </a:xfrm>
            <a:custGeom>
              <a:avLst/>
              <a:gdLst/>
              <a:ahLst/>
              <a:cxnLst/>
              <a:rect l="l" t="t" r="r" b="b"/>
              <a:pathLst>
                <a:path w="278632" h="345055">
                  <a:moveTo>
                    <a:pt x="0" y="0"/>
                  </a:moveTo>
                  <a:lnTo>
                    <a:pt x="278631" y="0"/>
                  </a:lnTo>
                  <a:lnTo>
                    <a:pt x="278631" y="345055"/>
                  </a:lnTo>
                  <a:lnTo>
                    <a:pt x="0" y="345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1" name="Freeform 171"/>
            <p:cNvSpPr/>
            <p:nvPr/>
          </p:nvSpPr>
          <p:spPr>
            <a:xfrm>
              <a:off x="1716308" y="101250"/>
              <a:ext cx="327802" cy="345055"/>
            </a:xfrm>
            <a:custGeom>
              <a:avLst/>
              <a:gdLst/>
              <a:ahLst/>
              <a:cxnLst/>
              <a:rect l="l" t="t" r="r" b="b"/>
              <a:pathLst>
                <a:path w="327802" h="345055">
                  <a:moveTo>
                    <a:pt x="0" y="0"/>
                  </a:moveTo>
                  <a:lnTo>
                    <a:pt x="327802" y="0"/>
                  </a:lnTo>
                  <a:lnTo>
                    <a:pt x="327802" y="345055"/>
                  </a:lnTo>
                  <a:lnTo>
                    <a:pt x="0" y="345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2" name="Group 172"/>
          <p:cNvGrpSpPr/>
          <p:nvPr/>
        </p:nvGrpSpPr>
        <p:grpSpPr>
          <a:xfrm>
            <a:off x="13747652" y="6486958"/>
            <a:ext cx="984242" cy="1139738"/>
            <a:chOff x="0" y="0"/>
            <a:chExt cx="809627" cy="937536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809627" cy="937536"/>
            </a:xfrm>
            <a:custGeom>
              <a:avLst/>
              <a:gdLst/>
              <a:ahLst/>
              <a:cxnLst/>
              <a:rect l="l" t="t" r="r" b="b"/>
              <a:pathLst>
                <a:path w="809627" h="937536">
                  <a:moveTo>
                    <a:pt x="94390" y="0"/>
                  </a:moveTo>
                  <a:lnTo>
                    <a:pt x="715237" y="0"/>
                  </a:lnTo>
                  <a:cubicBezTo>
                    <a:pt x="767367" y="0"/>
                    <a:pt x="809627" y="42260"/>
                    <a:pt x="809627" y="94390"/>
                  </a:cubicBezTo>
                  <a:lnTo>
                    <a:pt x="809627" y="843146"/>
                  </a:lnTo>
                  <a:cubicBezTo>
                    <a:pt x="809627" y="868180"/>
                    <a:pt x="799682" y="892188"/>
                    <a:pt x="781981" y="909890"/>
                  </a:cubicBezTo>
                  <a:cubicBezTo>
                    <a:pt x="764279" y="927591"/>
                    <a:pt x="740271" y="937536"/>
                    <a:pt x="715237" y="937536"/>
                  </a:cubicBezTo>
                  <a:lnTo>
                    <a:pt x="94390" y="937536"/>
                  </a:lnTo>
                  <a:cubicBezTo>
                    <a:pt x="42260" y="937536"/>
                    <a:pt x="0" y="895276"/>
                    <a:pt x="0" y="843146"/>
                  </a:cubicBezTo>
                  <a:lnTo>
                    <a:pt x="0" y="94390"/>
                  </a:lnTo>
                  <a:cubicBezTo>
                    <a:pt x="0" y="42260"/>
                    <a:pt x="42260" y="0"/>
                    <a:pt x="94390" y="0"/>
                  </a:cubicBezTo>
                  <a:close/>
                </a:path>
              </a:pathLst>
            </a:custGeom>
            <a:blipFill>
              <a:blip r:embed="rId15"/>
              <a:stretch>
                <a:fillRect l="-61330" t="-10319" r="-22279" b="-3842"/>
              </a:stretch>
            </a:blipFill>
          </p:spPr>
        </p:sp>
      </p:grpSp>
      <p:grpSp>
        <p:nvGrpSpPr>
          <p:cNvPr id="174" name="Group 174"/>
          <p:cNvGrpSpPr/>
          <p:nvPr/>
        </p:nvGrpSpPr>
        <p:grpSpPr>
          <a:xfrm>
            <a:off x="13747652" y="5255121"/>
            <a:ext cx="984242" cy="1136587"/>
            <a:chOff x="0" y="0"/>
            <a:chExt cx="809627" cy="934945"/>
          </a:xfrm>
        </p:grpSpPr>
        <p:sp>
          <p:nvSpPr>
            <p:cNvPr id="175" name="Freeform 175"/>
            <p:cNvSpPr/>
            <p:nvPr/>
          </p:nvSpPr>
          <p:spPr>
            <a:xfrm>
              <a:off x="0" y="0"/>
              <a:ext cx="809627" cy="934945"/>
            </a:xfrm>
            <a:custGeom>
              <a:avLst/>
              <a:gdLst/>
              <a:ahLst/>
              <a:cxnLst/>
              <a:rect l="l" t="t" r="r" b="b"/>
              <a:pathLst>
                <a:path w="809627" h="934945">
                  <a:moveTo>
                    <a:pt x="94390" y="0"/>
                  </a:moveTo>
                  <a:lnTo>
                    <a:pt x="715237" y="0"/>
                  </a:lnTo>
                  <a:cubicBezTo>
                    <a:pt x="767367" y="0"/>
                    <a:pt x="809627" y="42260"/>
                    <a:pt x="809627" y="94390"/>
                  </a:cubicBezTo>
                  <a:lnTo>
                    <a:pt x="809627" y="840554"/>
                  </a:lnTo>
                  <a:cubicBezTo>
                    <a:pt x="809627" y="892685"/>
                    <a:pt x="767367" y="934945"/>
                    <a:pt x="715237" y="934945"/>
                  </a:cubicBezTo>
                  <a:lnTo>
                    <a:pt x="94390" y="934945"/>
                  </a:lnTo>
                  <a:cubicBezTo>
                    <a:pt x="42260" y="934945"/>
                    <a:pt x="0" y="892685"/>
                    <a:pt x="0" y="840554"/>
                  </a:cubicBezTo>
                  <a:lnTo>
                    <a:pt x="0" y="94390"/>
                  </a:lnTo>
                  <a:cubicBezTo>
                    <a:pt x="0" y="42260"/>
                    <a:pt x="42260" y="0"/>
                    <a:pt x="94390" y="0"/>
                  </a:cubicBezTo>
                  <a:close/>
                </a:path>
              </a:pathLst>
            </a:custGeom>
            <a:blipFill>
              <a:blip r:embed="rId16"/>
              <a:stretch>
                <a:fillRect l="-10761" r="-50090"/>
              </a:stretch>
            </a:blipFill>
          </p:spPr>
        </p:sp>
      </p:grpSp>
      <p:grpSp>
        <p:nvGrpSpPr>
          <p:cNvPr id="176" name="Group 176"/>
          <p:cNvGrpSpPr/>
          <p:nvPr/>
        </p:nvGrpSpPr>
        <p:grpSpPr>
          <a:xfrm>
            <a:off x="13745724" y="4023283"/>
            <a:ext cx="988099" cy="1136587"/>
            <a:chOff x="0" y="0"/>
            <a:chExt cx="812800" cy="934945"/>
          </a:xfrm>
        </p:grpSpPr>
        <p:sp>
          <p:nvSpPr>
            <p:cNvPr id="177" name="Freeform 177"/>
            <p:cNvSpPr/>
            <p:nvPr/>
          </p:nvSpPr>
          <p:spPr>
            <a:xfrm>
              <a:off x="0" y="0"/>
              <a:ext cx="812800" cy="934945"/>
            </a:xfrm>
            <a:custGeom>
              <a:avLst/>
              <a:gdLst/>
              <a:ahLst/>
              <a:cxnLst/>
              <a:rect l="l" t="t" r="r" b="b"/>
              <a:pathLst>
                <a:path w="812800" h="934945">
                  <a:moveTo>
                    <a:pt x="94022" y="0"/>
                  </a:moveTo>
                  <a:lnTo>
                    <a:pt x="718778" y="0"/>
                  </a:lnTo>
                  <a:cubicBezTo>
                    <a:pt x="743714" y="0"/>
                    <a:pt x="767629" y="9906"/>
                    <a:pt x="785262" y="27538"/>
                  </a:cubicBezTo>
                  <a:cubicBezTo>
                    <a:pt x="802894" y="45171"/>
                    <a:pt x="812800" y="69086"/>
                    <a:pt x="812800" y="94022"/>
                  </a:cubicBezTo>
                  <a:lnTo>
                    <a:pt x="812800" y="840923"/>
                  </a:lnTo>
                  <a:cubicBezTo>
                    <a:pt x="812800" y="865859"/>
                    <a:pt x="802894" y="889774"/>
                    <a:pt x="785262" y="907406"/>
                  </a:cubicBezTo>
                  <a:cubicBezTo>
                    <a:pt x="767629" y="925039"/>
                    <a:pt x="743714" y="934945"/>
                    <a:pt x="718778" y="934945"/>
                  </a:cubicBezTo>
                  <a:lnTo>
                    <a:pt x="94022" y="934945"/>
                  </a:lnTo>
                  <a:cubicBezTo>
                    <a:pt x="69086" y="934945"/>
                    <a:pt x="45171" y="925039"/>
                    <a:pt x="27538" y="907406"/>
                  </a:cubicBezTo>
                  <a:cubicBezTo>
                    <a:pt x="9906" y="889774"/>
                    <a:pt x="0" y="865859"/>
                    <a:pt x="0" y="840923"/>
                  </a:cubicBezTo>
                  <a:lnTo>
                    <a:pt x="0" y="94022"/>
                  </a:lnTo>
                  <a:cubicBezTo>
                    <a:pt x="0" y="69086"/>
                    <a:pt x="9906" y="45171"/>
                    <a:pt x="27538" y="27538"/>
                  </a:cubicBezTo>
                  <a:cubicBezTo>
                    <a:pt x="45171" y="9906"/>
                    <a:pt x="69086" y="0"/>
                    <a:pt x="94022" y="0"/>
                  </a:cubicBezTo>
                  <a:close/>
                </a:path>
              </a:pathLst>
            </a:custGeom>
            <a:blipFill>
              <a:blip r:embed="rId17"/>
              <a:stretch>
                <a:fillRect l="-65915" t="-16417" r="-13406" b="-12991"/>
              </a:stretch>
            </a:blipFill>
          </p:spPr>
        </p:sp>
      </p:grpSp>
      <p:grpSp>
        <p:nvGrpSpPr>
          <p:cNvPr id="178" name="Group 178"/>
          <p:cNvGrpSpPr/>
          <p:nvPr/>
        </p:nvGrpSpPr>
        <p:grpSpPr>
          <a:xfrm>
            <a:off x="13735865" y="2791446"/>
            <a:ext cx="988099" cy="1136587"/>
            <a:chOff x="0" y="0"/>
            <a:chExt cx="812800" cy="934945"/>
          </a:xfrm>
        </p:grpSpPr>
        <p:sp>
          <p:nvSpPr>
            <p:cNvPr id="179" name="Freeform 179"/>
            <p:cNvSpPr/>
            <p:nvPr/>
          </p:nvSpPr>
          <p:spPr>
            <a:xfrm>
              <a:off x="0" y="0"/>
              <a:ext cx="812800" cy="934945"/>
            </a:xfrm>
            <a:custGeom>
              <a:avLst/>
              <a:gdLst/>
              <a:ahLst/>
              <a:cxnLst/>
              <a:rect l="l" t="t" r="r" b="b"/>
              <a:pathLst>
                <a:path w="812800" h="934945">
                  <a:moveTo>
                    <a:pt x="94022" y="0"/>
                  </a:moveTo>
                  <a:lnTo>
                    <a:pt x="718778" y="0"/>
                  </a:lnTo>
                  <a:cubicBezTo>
                    <a:pt x="743714" y="0"/>
                    <a:pt x="767629" y="9906"/>
                    <a:pt x="785262" y="27538"/>
                  </a:cubicBezTo>
                  <a:cubicBezTo>
                    <a:pt x="802894" y="45171"/>
                    <a:pt x="812800" y="69086"/>
                    <a:pt x="812800" y="94022"/>
                  </a:cubicBezTo>
                  <a:lnTo>
                    <a:pt x="812800" y="840923"/>
                  </a:lnTo>
                  <a:cubicBezTo>
                    <a:pt x="812800" y="865859"/>
                    <a:pt x="802894" y="889774"/>
                    <a:pt x="785262" y="907406"/>
                  </a:cubicBezTo>
                  <a:cubicBezTo>
                    <a:pt x="767629" y="925039"/>
                    <a:pt x="743714" y="934945"/>
                    <a:pt x="718778" y="934945"/>
                  </a:cubicBezTo>
                  <a:lnTo>
                    <a:pt x="94022" y="934945"/>
                  </a:lnTo>
                  <a:cubicBezTo>
                    <a:pt x="69086" y="934945"/>
                    <a:pt x="45171" y="925039"/>
                    <a:pt x="27538" y="907406"/>
                  </a:cubicBezTo>
                  <a:cubicBezTo>
                    <a:pt x="9906" y="889774"/>
                    <a:pt x="0" y="865859"/>
                    <a:pt x="0" y="840923"/>
                  </a:cubicBezTo>
                  <a:lnTo>
                    <a:pt x="0" y="94022"/>
                  </a:lnTo>
                  <a:cubicBezTo>
                    <a:pt x="0" y="69086"/>
                    <a:pt x="9906" y="45171"/>
                    <a:pt x="27538" y="27538"/>
                  </a:cubicBezTo>
                  <a:cubicBezTo>
                    <a:pt x="45171" y="9906"/>
                    <a:pt x="69086" y="0"/>
                    <a:pt x="94022" y="0"/>
                  </a:cubicBezTo>
                  <a:close/>
                </a:path>
              </a:pathLst>
            </a:custGeom>
            <a:blipFill>
              <a:blip r:embed="rId18"/>
              <a:stretch>
                <a:fillRect l="-32845" t="-13276" r="-2907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909670"/>
            <a:ext cx="4877477" cy="4467660"/>
            <a:chOff x="0" y="0"/>
            <a:chExt cx="6503303" cy="5956880"/>
          </a:xfrm>
        </p:grpSpPr>
        <p:sp>
          <p:nvSpPr>
            <p:cNvPr id="3" name="TextBox 3"/>
            <p:cNvSpPr txBox="1"/>
            <p:nvPr/>
          </p:nvSpPr>
          <p:spPr>
            <a:xfrm>
              <a:off x="208980" y="0"/>
              <a:ext cx="6294323" cy="7850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67"/>
                </a:lnSpc>
              </a:pPr>
              <a:r>
                <a:rPr lang="en-US" sz="1972" b="1" spc="69">
                  <a:solidFill>
                    <a:srgbClr val="FF8C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REDESIGNED CAROUSEL EXPERIENCE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1855264"/>
              <a:ext cx="6294323" cy="854402"/>
              <a:chOff x="0" y="0"/>
              <a:chExt cx="6806213" cy="92388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0" y="2937669"/>
              <a:ext cx="6294323" cy="854402"/>
              <a:chOff x="0" y="0"/>
              <a:chExt cx="6806213" cy="92388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0" y="4020074"/>
              <a:ext cx="6294323" cy="854402"/>
              <a:chOff x="0" y="0"/>
              <a:chExt cx="6806213" cy="92388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0" y="5102478"/>
              <a:ext cx="6294323" cy="854402"/>
              <a:chOff x="0" y="0"/>
              <a:chExt cx="6806213" cy="9238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08980" y="2103542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Swipe navigation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8980" y="3185947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Progress indicators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8980" y="4268351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Real-world imagery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8980" y="5350756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Motion transitions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8980" y="985103"/>
              <a:ext cx="5491804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 b="1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The Fallout : Interactive storytelling with immersive visuals and animated statistics.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49783" y="271370"/>
            <a:ext cx="8543537" cy="9744259"/>
            <a:chOff x="0" y="0"/>
            <a:chExt cx="11391383" cy="12992345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1391383" cy="12992345"/>
              <a:chOff x="0" y="0"/>
              <a:chExt cx="1757929" cy="200499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757930" cy="2004992"/>
              </a:xfrm>
              <a:custGeom>
                <a:avLst/>
                <a:gdLst/>
                <a:ahLst/>
                <a:cxnLst/>
                <a:rect l="l" t="t" r="r" b="b"/>
                <a:pathLst>
                  <a:path w="1757930" h="2004992">
                    <a:moveTo>
                      <a:pt x="8495" y="0"/>
                    </a:moveTo>
                    <a:lnTo>
                      <a:pt x="1749434" y="0"/>
                    </a:lnTo>
                    <a:cubicBezTo>
                      <a:pt x="1751687" y="0"/>
                      <a:pt x="1753848" y="895"/>
                      <a:pt x="1755441" y="2488"/>
                    </a:cubicBezTo>
                    <a:cubicBezTo>
                      <a:pt x="1757034" y="4081"/>
                      <a:pt x="1757930" y="6242"/>
                      <a:pt x="1757930" y="8495"/>
                    </a:cubicBezTo>
                    <a:lnTo>
                      <a:pt x="1757930" y="1996496"/>
                    </a:lnTo>
                    <a:cubicBezTo>
                      <a:pt x="1757930" y="1998749"/>
                      <a:pt x="1757034" y="2000910"/>
                      <a:pt x="1755441" y="2002503"/>
                    </a:cubicBezTo>
                    <a:cubicBezTo>
                      <a:pt x="1753848" y="2004096"/>
                      <a:pt x="1751687" y="2004992"/>
                      <a:pt x="1749434" y="2004992"/>
                    </a:cubicBezTo>
                    <a:lnTo>
                      <a:pt x="8495" y="2004992"/>
                    </a:lnTo>
                    <a:cubicBezTo>
                      <a:pt x="6242" y="2004992"/>
                      <a:pt x="4081" y="2004096"/>
                      <a:pt x="2488" y="2002503"/>
                    </a:cubicBezTo>
                    <a:cubicBezTo>
                      <a:pt x="895" y="2000910"/>
                      <a:pt x="0" y="1998749"/>
                      <a:pt x="0" y="1996496"/>
                    </a:cubicBezTo>
                    <a:lnTo>
                      <a:pt x="0" y="8495"/>
                    </a:lnTo>
                    <a:cubicBezTo>
                      <a:pt x="0" y="6242"/>
                      <a:pt x="895" y="4081"/>
                      <a:pt x="2488" y="2488"/>
                    </a:cubicBezTo>
                    <a:cubicBezTo>
                      <a:pt x="4081" y="895"/>
                      <a:pt x="6242" y="0"/>
                      <a:pt x="8495" y="0"/>
                    </a:cubicBezTo>
                    <a:close/>
                  </a:path>
                </a:pathLst>
              </a:custGeom>
              <a:solidFill>
                <a:srgbClr val="F3F3F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1757929" cy="2052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21200" y="7205449"/>
              <a:ext cx="3327920" cy="5438934"/>
              <a:chOff x="0" y="0"/>
              <a:chExt cx="513568" cy="83934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13568" cy="839342"/>
              </a:xfrm>
              <a:custGeom>
                <a:avLst/>
                <a:gdLst/>
                <a:ahLst/>
                <a:cxnLst/>
                <a:rect l="l" t="t" r="r" b="b"/>
                <a:pathLst>
                  <a:path w="513568" h="839342">
                    <a:moveTo>
                      <a:pt x="29079" y="0"/>
                    </a:moveTo>
                    <a:lnTo>
                      <a:pt x="484489" y="0"/>
                    </a:lnTo>
                    <a:cubicBezTo>
                      <a:pt x="500549" y="0"/>
                      <a:pt x="513568" y="13019"/>
                      <a:pt x="513568" y="29079"/>
                    </a:cubicBezTo>
                    <a:lnTo>
                      <a:pt x="513568" y="810262"/>
                    </a:lnTo>
                    <a:cubicBezTo>
                      <a:pt x="513568" y="826322"/>
                      <a:pt x="500549" y="839342"/>
                      <a:pt x="484489" y="839342"/>
                    </a:cubicBezTo>
                    <a:lnTo>
                      <a:pt x="29079" y="839342"/>
                    </a:lnTo>
                    <a:cubicBezTo>
                      <a:pt x="13019" y="839342"/>
                      <a:pt x="0" y="826322"/>
                      <a:pt x="0" y="810262"/>
                    </a:cubicBezTo>
                    <a:lnTo>
                      <a:pt x="0" y="29079"/>
                    </a:lnTo>
                    <a:cubicBezTo>
                      <a:pt x="0" y="13019"/>
                      <a:pt x="13019" y="0"/>
                      <a:pt x="290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513568" cy="8869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21200" y="7205449"/>
              <a:ext cx="3327920" cy="5438934"/>
              <a:chOff x="0" y="0"/>
              <a:chExt cx="513568" cy="83934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13568" cy="839342"/>
              </a:xfrm>
              <a:custGeom>
                <a:avLst/>
                <a:gdLst/>
                <a:ahLst/>
                <a:cxnLst/>
                <a:rect l="l" t="t" r="r" b="b"/>
                <a:pathLst>
                  <a:path w="513568" h="839342">
                    <a:moveTo>
                      <a:pt x="29079" y="0"/>
                    </a:moveTo>
                    <a:lnTo>
                      <a:pt x="484489" y="0"/>
                    </a:lnTo>
                    <a:cubicBezTo>
                      <a:pt x="500549" y="0"/>
                      <a:pt x="513568" y="13019"/>
                      <a:pt x="513568" y="29079"/>
                    </a:cubicBezTo>
                    <a:lnTo>
                      <a:pt x="513568" y="810262"/>
                    </a:lnTo>
                    <a:cubicBezTo>
                      <a:pt x="513568" y="826322"/>
                      <a:pt x="500549" y="839342"/>
                      <a:pt x="484489" y="839342"/>
                    </a:cubicBezTo>
                    <a:lnTo>
                      <a:pt x="29079" y="839342"/>
                    </a:lnTo>
                    <a:cubicBezTo>
                      <a:pt x="13019" y="839342"/>
                      <a:pt x="0" y="826322"/>
                      <a:pt x="0" y="810262"/>
                    </a:cubicBezTo>
                    <a:lnTo>
                      <a:pt x="0" y="29079"/>
                    </a:lnTo>
                    <a:cubicBezTo>
                      <a:pt x="0" y="13019"/>
                      <a:pt x="13019" y="0"/>
                      <a:pt x="29079" y="0"/>
                    </a:cubicBezTo>
                    <a:close/>
                  </a:path>
                </a:pathLst>
              </a:custGeom>
              <a:solidFill>
                <a:srgbClr val="FFFFFF">
                  <a:alpha val="19608"/>
                </a:srgbClr>
              </a:solidFill>
              <a:ln w="38100" cap="sq">
                <a:solidFill>
                  <a:srgbClr val="FFFFFF">
                    <a:alpha val="19608"/>
                  </a:srgbClr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513568" cy="8869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24237" y="10256748"/>
              <a:ext cx="3121846" cy="2296639"/>
              <a:chOff x="0" y="0"/>
              <a:chExt cx="1973490" cy="145183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973490" cy="1451832"/>
              </a:xfrm>
              <a:custGeom>
                <a:avLst/>
                <a:gdLst/>
                <a:ahLst/>
                <a:cxnLst/>
                <a:rect l="l" t="t" r="r" b="b"/>
                <a:pathLst>
                  <a:path w="1973490" h="1451832">
                    <a:moveTo>
                      <a:pt x="39679" y="0"/>
                    </a:moveTo>
                    <a:lnTo>
                      <a:pt x="1933811" y="0"/>
                    </a:lnTo>
                    <a:cubicBezTo>
                      <a:pt x="1944335" y="0"/>
                      <a:pt x="1954427" y="4180"/>
                      <a:pt x="1961868" y="11622"/>
                    </a:cubicBezTo>
                    <a:cubicBezTo>
                      <a:pt x="1969310" y="19063"/>
                      <a:pt x="1973490" y="29155"/>
                      <a:pt x="1973490" y="39679"/>
                    </a:cubicBezTo>
                    <a:lnTo>
                      <a:pt x="1973490" y="1412153"/>
                    </a:lnTo>
                    <a:cubicBezTo>
                      <a:pt x="1973490" y="1434067"/>
                      <a:pt x="1955725" y="1451832"/>
                      <a:pt x="1933811" y="1451832"/>
                    </a:cubicBezTo>
                    <a:lnTo>
                      <a:pt x="39679" y="1451832"/>
                    </a:lnTo>
                    <a:cubicBezTo>
                      <a:pt x="17765" y="1451832"/>
                      <a:pt x="0" y="1434067"/>
                      <a:pt x="0" y="1412153"/>
                    </a:cubicBezTo>
                    <a:lnTo>
                      <a:pt x="0" y="39679"/>
                    </a:lnTo>
                    <a:cubicBezTo>
                      <a:pt x="0" y="17765"/>
                      <a:pt x="17765" y="0"/>
                      <a:pt x="39679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t="-747" r="-4350" b="-5163"/>
                </a:stretch>
              </a:blipFill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4031731" y="7205449"/>
              <a:ext cx="3327920" cy="5438934"/>
              <a:chOff x="0" y="0"/>
              <a:chExt cx="513568" cy="83934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13568" cy="839342"/>
              </a:xfrm>
              <a:custGeom>
                <a:avLst/>
                <a:gdLst/>
                <a:ahLst/>
                <a:cxnLst/>
                <a:rect l="l" t="t" r="r" b="b"/>
                <a:pathLst>
                  <a:path w="513568" h="839342">
                    <a:moveTo>
                      <a:pt x="29079" y="0"/>
                    </a:moveTo>
                    <a:lnTo>
                      <a:pt x="484489" y="0"/>
                    </a:lnTo>
                    <a:cubicBezTo>
                      <a:pt x="500549" y="0"/>
                      <a:pt x="513568" y="13019"/>
                      <a:pt x="513568" y="29079"/>
                    </a:cubicBezTo>
                    <a:lnTo>
                      <a:pt x="513568" y="810262"/>
                    </a:lnTo>
                    <a:cubicBezTo>
                      <a:pt x="513568" y="826322"/>
                      <a:pt x="500549" y="839342"/>
                      <a:pt x="484489" y="839342"/>
                    </a:cubicBezTo>
                    <a:lnTo>
                      <a:pt x="29079" y="839342"/>
                    </a:lnTo>
                    <a:cubicBezTo>
                      <a:pt x="13019" y="839342"/>
                      <a:pt x="0" y="826322"/>
                      <a:pt x="0" y="810262"/>
                    </a:cubicBezTo>
                    <a:lnTo>
                      <a:pt x="0" y="29079"/>
                    </a:lnTo>
                    <a:cubicBezTo>
                      <a:pt x="0" y="13019"/>
                      <a:pt x="13019" y="0"/>
                      <a:pt x="29079" y="0"/>
                    </a:cubicBezTo>
                    <a:close/>
                  </a:path>
                </a:pathLst>
              </a:custGeom>
              <a:solidFill>
                <a:srgbClr val="FCFFFE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513568" cy="8869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031731" y="7205449"/>
              <a:ext cx="3327920" cy="5438934"/>
              <a:chOff x="0" y="0"/>
              <a:chExt cx="513568" cy="83934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513568" cy="839342"/>
              </a:xfrm>
              <a:custGeom>
                <a:avLst/>
                <a:gdLst/>
                <a:ahLst/>
                <a:cxnLst/>
                <a:rect l="l" t="t" r="r" b="b"/>
                <a:pathLst>
                  <a:path w="513568" h="839342">
                    <a:moveTo>
                      <a:pt x="29079" y="0"/>
                    </a:moveTo>
                    <a:lnTo>
                      <a:pt x="484489" y="0"/>
                    </a:lnTo>
                    <a:cubicBezTo>
                      <a:pt x="500549" y="0"/>
                      <a:pt x="513568" y="13019"/>
                      <a:pt x="513568" y="29079"/>
                    </a:cubicBezTo>
                    <a:lnTo>
                      <a:pt x="513568" y="810262"/>
                    </a:lnTo>
                    <a:cubicBezTo>
                      <a:pt x="513568" y="826322"/>
                      <a:pt x="500549" y="839342"/>
                      <a:pt x="484489" y="839342"/>
                    </a:cubicBezTo>
                    <a:lnTo>
                      <a:pt x="29079" y="839342"/>
                    </a:lnTo>
                    <a:cubicBezTo>
                      <a:pt x="13019" y="839342"/>
                      <a:pt x="0" y="826322"/>
                      <a:pt x="0" y="810262"/>
                    </a:cubicBezTo>
                    <a:lnTo>
                      <a:pt x="0" y="29079"/>
                    </a:lnTo>
                    <a:cubicBezTo>
                      <a:pt x="0" y="13019"/>
                      <a:pt x="13019" y="0"/>
                      <a:pt x="29079" y="0"/>
                    </a:cubicBezTo>
                    <a:close/>
                  </a:path>
                </a:pathLst>
              </a:custGeom>
              <a:solidFill>
                <a:srgbClr val="FFFFFF">
                  <a:alpha val="19608"/>
                </a:srgbClr>
              </a:solidFill>
              <a:ln w="38100" cap="sq">
                <a:solidFill>
                  <a:srgbClr val="FFFFFF">
                    <a:alpha val="19608"/>
                  </a:srgbClr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513568" cy="8869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134768" y="10256748"/>
              <a:ext cx="3121846" cy="2296639"/>
              <a:chOff x="0" y="0"/>
              <a:chExt cx="1973490" cy="145183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973490" cy="1451832"/>
              </a:xfrm>
              <a:custGeom>
                <a:avLst/>
                <a:gdLst/>
                <a:ahLst/>
                <a:cxnLst/>
                <a:rect l="l" t="t" r="r" b="b"/>
                <a:pathLst>
                  <a:path w="1973490" h="1451832">
                    <a:moveTo>
                      <a:pt x="39679" y="0"/>
                    </a:moveTo>
                    <a:lnTo>
                      <a:pt x="1933811" y="0"/>
                    </a:lnTo>
                    <a:cubicBezTo>
                      <a:pt x="1944335" y="0"/>
                      <a:pt x="1954427" y="4180"/>
                      <a:pt x="1961868" y="11622"/>
                    </a:cubicBezTo>
                    <a:cubicBezTo>
                      <a:pt x="1969310" y="19063"/>
                      <a:pt x="1973490" y="29155"/>
                      <a:pt x="1973490" y="39679"/>
                    </a:cubicBezTo>
                    <a:lnTo>
                      <a:pt x="1973490" y="1412153"/>
                    </a:lnTo>
                    <a:cubicBezTo>
                      <a:pt x="1973490" y="1434067"/>
                      <a:pt x="1955725" y="1451832"/>
                      <a:pt x="1933811" y="1451832"/>
                    </a:cubicBezTo>
                    <a:lnTo>
                      <a:pt x="39679" y="1451832"/>
                    </a:lnTo>
                    <a:cubicBezTo>
                      <a:pt x="17765" y="1451832"/>
                      <a:pt x="0" y="1434067"/>
                      <a:pt x="0" y="1412153"/>
                    </a:cubicBezTo>
                    <a:lnTo>
                      <a:pt x="0" y="39679"/>
                    </a:lnTo>
                    <a:cubicBezTo>
                      <a:pt x="0" y="17765"/>
                      <a:pt x="17765" y="0"/>
                      <a:pt x="39679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6537" t="-1489" r="-5710" b="-8368"/>
                </a:stretch>
              </a:blip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7537452" y="7205449"/>
              <a:ext cx="3327920" cy="5438934"/>
              <a:chOff x="0" y="0"/>
              <a:chExt cx="513568" cy="83934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513568" cy="839342"/>
              </a:xfrm>
              <a:custGeom>
                <a:avLst/>
                <a:gdLst/>
                <a:ahLst/>
                <a:cxnLst/>
                <a:rect l="l" t="t" r="r" b="b"/>
                <a:pathLst>
                  <a:path w="513568" h="839342">
                    <a:moveTo>
                      <a:pt x="29079" y="0"/>
                    </a:moveTo>
                    <a:lnTo>
                      <a:pt x="484489" y="0"/>
                    </a:lnTo>
                    <a:cubicBezTo>
                      <a:pt x="500549" y="0"/>
                      <a:pt x="513568" y="13019"/>
                      <a:pt x="513568" y="29079"/>
                    </a:cubicBezTo>
                    <a:lnTo>
                      <a:pt x="513568" y="810262"/>
                    </a:lnTo>
                    <a:cubicBezTo>
                      <a:pt x="513568" y="826322"/>
                      <a:pt x="500549" y="839342"/>
                      <a:pt x="484489" y="839342"/>
                    </a:cubicBezTo>
                    <a:lnTo>
                      <a:pt x="29079" y="839342"/>
                    </a:lnTo>
                    <a:cubicBezTo>
                      <a:pt x="13019" y="839342"/>
                      <a:pt x="0" y="826322"/>
                      <a:pt x="0" y="810262"/>
                    </a:cubicBezTo>
                    <a:lnTo>
                      <a:pt x="0" y="29079"/>
                    </a:lnTo>
                    <a:cubicBezTo>
                      <a:pt x="0" y="13019"/>
                      <a:pt x="13019" y="0"/>
                      <a:pt x="290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513568" cy="8869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537452" y="7205449"/>
              <a:ext cx="3327920" cy="5438934"/>
              <a:chOff x="0" y="0"/>
              <a:chExt cx="513568" cy="839342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513568" cy="839342"/>
              </a:xfrm>
              <a:custGeom>
                <a:avLst/>
                <a:gdLst/>
                <a:ahLst/>
                <a:cxnLst/>
                <a:rect l="l" t="t" r="r" b="b"/>
                <a:pathLst>
                  <a:path w="513568" h="839342">
                    <a:moveTo>
                      <a:pt x="29079" y="0"/>
                    </a:moveTo>
                    <a:lnTo>
                      <a:pt x="484489" y="0"/>
                    </a:lnTo>
                    <a:cubicBezTo>
                      <a:pt x="500549" y="0"/>
                      <a:pt x="513568" y="13019"/>
                      <a:pt x="513568" y="29079"/>
                    </a:cubicBezTo>
                    <a:lnTo>
                      <a:pt x="513568" y="810262"/>
                    </a:lnTo>
                    <a:cubicBezTo>
                      <a:pt x="513568" y="826322"/>
                      <a:pt x="500549" y="839342"/>
                      <a:pt x="484489" y="839342"/>
                    </a:cubicBezTo>
                    <a:lnTo>
                      <a:pt x="29079" y="839342"/>
                    </a:lnTo>
                    <a:cubicBezTo>
                      <a:pt x="13019" y="839342"/>
                      <a:pt x="0" y="826322"/>
                      <a:pt x="0" y="810262"/>
                    </a:cubicBezTo>
                    <a:lnTo>
                      <a:pt x="0" y="29079"/>
                    </a:lnTo>
                    <a:cubicBezTo>
                      <a:pt x="0" y="13019"/>
                      <a:pt x="13019" y="0"/>
                      <a:pt x="29079" y="0"/>
                    </a:cubicBezTo>
                    <a:close/>
                  </a:path>
                </a:pathLst>
              </a:custGeom>
              <a:solidFill>
                <a:srgbClr val="FFFFFF">
                  <a:alpha val="19608"/>
                </a:srgbClr>
              </a:solidFill>
              <a:ln w="38100" cap="sq">
                <a:solidFill>
                  <a:srgbClr val="FFFFFF">
                    <a:alpha val="19608"/>
                  </a:srgbClr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513568" cy="8869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640489" y="10256748"/>
              <a:ext cx="3121846" cy="2296639"/>
              <a:chOff x="0" y="0"/>
              <a:chExt cx="1973490" cy="145183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973490" cy="1451832"/>
              </a:xfrm>
              <a:custGeom>
                <a:avLst/>
                <a:gdLst/>
                <a:ahLst/>
                <a:cxnLst/>
                <a:rect l="l" t="t" r="r" b="b"/>
                <a:pathLst>
                  <a:path w="1973490" h="1451832">
                    <a:moveTo>
                      <a:pt x="39679" y="0"/>
                    </a:moveTo>
                    <a:lnTo>
                      <a:pt x="1933811" y="0"/>
                    </a:lnTo>
                    <a:cubicBezTo>
                      <a:pt x="1944335" y="0"/>
                      <a:pt x="1954427" y="4180"/>
                      <a:pt x="1961868" y="11622"/>
                    </a:cubicBezTo>
                    <a:cubicBezTo>
                      <a:pt x="1969310" y="19063"/>
                      <a:pt x="1973490" y="29155"/>
                      <a:pt x="1973490" y="39679"/>
                    </a:cubicBezTo>
                    <a:lnTo>
                      <a:pt x="1973490" y="1412153"/>
                    </a:lnTo>
                    <a:cubicBezTo>
                      <a:pt x="1973490" y="1434067"/>
                      <a:pt x="1955725" y="1451832"/>
                      <a:pt x="1933811" y="1451832"/>
                    </a:cubicBezTo>
                    <a:lnTo>
                      <a:pt x="39679" y="1451832"/>
                    </a:lnTo>
                    <a:cubicBezTo>
                      <a:pt x="17765" y="1451832"/>
                      <a:pt x="0" y="1434067"/>
                      <a:pt x="0" y="1412153"/>
                    </a:cubicBezTo>
                    <a:lnTo>
                      <a:pt x="0" y="39679"/>
                    </a:lnTo>
                    <a:cubicBezTo>
                      <a:pt x="0" y="17765"/>
                      <a:pt x="17765" y="0"/>
                      <a:pt x="39679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6149" t="-3863" r="-6172" b="-7783"/>
                </a:stretch>
              </a:blipFill>
            </p:spPr>
          </p:sp>
        </p:grpSp>
        <p:sp>
          <p:nvSpPr>
            <p:cNvPr id="45" name="Freeform 45"/>
            <p:cNvSpPr/>
            <p:nvPr/>
          </p:nvSpPr>
          <p:spPr>
            <a:xfrm>
              <a:off x="735045" y="7615607"/>
              <a:ext cx="638070" cy="425912"/>
            </a:xfrm>
            <a:custGeom>
              <a:avLst/>
              <a:gdLst/>
              <a:ahLst/>
              <a:cxnLst/>
              <a:rect l="l" t="t" r="r" b="b"/>
              <a:pathLst>
                <a:path w="638070" h="425912">
                  <a:moveTo>
                    <a:pt x="0" y="0"/>
                  </a:moveTo>
                  <a:lnTo>
                    <a:pt x="638070" y="0"/>
                  </a:lnTo>
                  <a:lnTo>
                    <a:pt x="638070" y="425912"/>
                  </a:lnTo>
                  <a:lnTo>
                    <a:pt x="0" y="425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>
              <a:off x="4229084" y="7615607"/>
              <a:ext cx="457522" cy="425912"/>
            </a:xfrm>
            <a:custGeom>
              <a:avLst/>
              <a:gdLst/>
              <a:ahLst/>
              <a:cxnLst/>
              <a:rect l="l" t="t" r="r" b="b"/>
              <a:pathLst>
                <a:path w="457522" h="425912">
                  <a:moveTo>
                    <a:pt x="0" y="0"/>
                  </a:moveTo>
                  <a:lnTo>
                    <a:pt x="457522" y="0"/>
                  </a:lnTo>
                  <a:lnTo>
                    <a:pt x="457522" y="425912"/>
                  </a:lnTo>
                  <a:lnTo>
                    <a:pt x="0" y="425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>
              <a:off x="7835683" y="7615607"/>
              <a:ext cx="440219" cy="425912"/>
            </a:xfrm>
            <a:custGeom>
              <a:avLst/>
              <a:gdLst/>
              <a:ahLst/>
              <a:cxnLst/>
              <a:rect l="l" t="t" r="r" b="b"/>
              <a:pathLst>
                <a:path w="440219" h="425912">
                  <a:moveTo>
                    <a:pt x="0" y="0"/>
                  </a:moveTo>
                  <a:lnTo>
                    <a:pt x="440219" y="0"/>
                  </a:lnTo>
                  <a:lnTo>
                    <a:pt x="440219" y="425912"/>
                  </a:lnTo>
                  <a:lnTo>
                    <a:pt x="0" y="425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8" name="Group 48"/>
            <p:cNvGrpSpPr/>
            <p:nvPr/>
          </p:nvGrpSpPr>
          <p:grpSpPr>
            <a:xfrm>
              <a:off x="521200" y="390515"/>
              <a:ext cx="10344172" cy="6490873"/>
              <a:chOff x="0" y="0"/>
              <a:chExt cx="1596323" cy="100167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596323" cy="1001678"/>
              </a:xfrm>
              <a:custGeom>
                <a:avLst/>
                <a:gdLst/>
                <a:ahLst/>
                <a:cxnLst/>
                <a:rect l="l" t="t" r="r" b="b"/>
                <a:pathLst>
                  <a:path w="1596323" h="1001678">
                    <a:moveTo>
                      <a:pt x="9355" y="0"/>
                    </a:moveTo>
                    <a:lnTo>
                      <a:pt x="1586967" y="0"/>
                    </a:lnTo>
                    <a:cubicBezTo>
                      <a:pt x="1589449" y="0"/>
                      <a:pt x="1591828" y="986"/>
                      <a:pt x="1593583" y="2740"/>
                    </a:cubicBezTo>
                    <a:cubicBezTo>
                      <a:pt x="1595337" y="4495"/>
                      <a:pt x="1596323" y="6874"/>
                      <a:pt x="1596323" y="9355"/>
                    </a:cubicBezTo>
                    <a:lnTo>
                      <a:pt x="1596323" y="992322"/>
                    </a:lnTo>
                    <a:cubicBezTo>
                      <a:pt x="1596323" y="994804"/>
                      <a:pt x="1595337" y="997183"/>
                      <a:pt x="1593583" y="998938"/>
                    </a:cubicBezTo>
                    <a:cubicBezTo>
                      <a:pt x="1591828" y="1000692"/>
                      <a:pt x="1589449" y="1001678"/>
                      <a:pt x="1586967" y="1001678"/>
                    </a:cubicBezTo>
                    <a:lnTo>
                      <a:pt x="9355" y="1001678"/>
                    </a:lnTo>
                    <a:cubicBezTo>
                      <a:pt x="6874" y="1001678"/>
                      <a:pt x="4495" y="1000692"/>
                      <a:pt x="2740" y="998938"/>
                    </a:cubicBezTo>
                    <a:cubicBezTo>
                      <a:pt x="986" y="997183"/>
                      <a:pt x="0" y="994804"/>
                      <a:pt x="0" y="992322"/>
                    </a:cubicBezTo>
                    <a:lnTo>
                      <a:pt x="0" y="9355"/>
                    </a:lnTo>
                    <a:cubicBezTo>
                      <a:pt x="0" y="6874"/>
                      <a:pt x="986" y="4495"/>
                      <a:pt x="2740" y="2740"/>
                    </a:cubicBezTo>
                    <a:cubicBezTo>
                      <a:pt x="4495" y="986"/>
                      <a:pt x="6874" y="0"/>
                      <a:pt x="9355" y="0"/>
                    </a:cubicBezTo>
                    <a:close/>
                  </a:path>
                </a:pathLst>
              </a:custGeom>
              <a:solidFill>
                <a:srgbClr val="101929"/>
              </a:solidFill>
              <a:ln w="38100" cap="sq">
                <a:solidFill>
                  <a:srgbClr val="10192B"/>
                </a:solidFill>
                <a:prstDash val="solid"/>
                <a:miter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47625"/>
                <a:ext cx="1596323" cy="10493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21200" y="390515"/>
              <a:ext cx="6483252" cy="6490873"/>
              <a:chOff x="0" y="0"/>
              <a:chExt cx="1973490" cy="197581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973490" cy="1975810"/>
              </a:xfrm>
              <a:custGeom>
                <a:avLst/>
                <a:gdLst/>
                <a:ahLst/>
                <a:cxnLst/>
                <a:rect l="l" t="t" r="r" b="b"/>
                <a:pathLst>
                  <a:path w="1973490" h="1975810">
                    <a:moveTo>
                      <a:pt x="19106" y="0"/>
                    </a:moveTo>
                    <a:lnTo>
                      <a:pt x="1954384" y="0"/>
                    </a:lnTo>
                    <a:cubicBezTo>
                      <a:pt x="1964936" y="0"/>
                      <a:pt x="1973490" y="8554"/>
                      <a:pt x="1973490" y="19106"/>
                    </a:cubicBezTo>
                    <a:lnTo>
                      <a:pt x="1973490" y="1956704"/>
                    </a:lnTo>
                    <a:cubicBezTo>
                      <a:pt x="1973490" y="1967256"/>
                      <a:pt x="1964936" y="1975810"/>
                      <a:pt x="1954384" y="1975810"/>
                    </a:cubicBezTo>
                    <a:lnTo>
                      <a:pt x="19106" y="1975810"/>
                    </a:lnTo>
                    <a:cubicBezTo>
                      <a:pt x="8554" y="1975810"/>
                      <a:pt x="0" y="1967256"/>
                      <a:pt x="0" y="1956704"/>
                    </a:cubicBezTo>
                    <a:lnTo>
                      <a:pt x="0" y="19106"/>
                    </a:lnTo>
                    <a:cubicBezTo>
                      <a:pt x="0" y="8554"/>
                      <a:pt x="8554" y="0"/>
                      <a:pt x="19106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t="-7588" b="-7588"/>
                </a:stretch>
              </a:blipFill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490112" y="377021"/>
              <a:ext cx="5830764" cy="6504367"/>
              <a:chOff x="0" y="0"/>
              <a:chExt cx="965982" cy="1077578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965982" cy="1077578"/>
              </a:xfrm>
              <a:custGeom>
                <a:avLst/>
                <a:gdLst/>
                <a:ahLst/>
                <a:cxnLst/>
                <a:rect l="l" t="t" r="r" b="b"/>
                <a:pathLst>
                  <a:path w="965982" h="1077578">
                    <a:moveTo>
                      <a:pt x="16597" y="0"/>
                    </a:moveTo>
                    <a:lnTo>
                      <a:pt x="949385" y="0"/>
                    </a:lnTo>
                    <a:cubicBezTo>
                      <a:pt x="958551" y="0"/>
                      <a:pt x="965982" y="7431"/>
                      <a:pt x="965982" y="16597"/>
                    </a:cubicBezTo>
                    <a:lnTo>
                      <a:pt x="965982" y="1060981"/>
                    </a:lnTo>
                    <a:cubicBezTo>
                      <a:pt x="965982" y="1070147"/>
                      <a:pt x="958551" y="1077578"/>
                      <a:pt x="949385" y="1077578"/>
                    </a:cubicBezTo>
                    <a:lnTo>
                      <a:pt x="16597" y="1077578"/>
                    </a:lnTo>
                    <a:cubicBezTo>
                      <a:pt x="7431" y="1077578"/>
                      <a:pt x="0" y="1070147"/>
                      <a:pt x="0" y="1060981"/>
                    </a:cubicBezTo>
                    <a:lnTo>
                      <a:pt x="0" y="16597"/>
                    </a:lnTo>
                    <a:cubicBezTo>
                      <a:pt x="0" y="7431"/>
                      <a:pt x="7431" y="0"/>
                      <a:pt x="16597" y="0"/>
                    </a:cubicBezTo>
                    <a:close/>
                  </a:path>
                </a:pathLst>
              </a:custGeom>
              <a:solidFill>
                <a:srgbClr val="283755">
                  <a:alpha val="27843"/>
                </a:srgbClr>
              </a:solidFill>
              <a:ln w="38100" cap="sq">
                <a:solidFill>
                  <a:srgbClr val="23303F">
                    <a:alpha val="27843"/>
                  </a:srgbClr>
                </a:solidFill>
                <a:prstDash val="solid"/>
                <a:miter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0" y="-47625"/>
                <a:ext cx="965982" cy="1125203"/>
              </a:xfrm>
              <a:prstGeom prst="rect">
                <a:avLst/>
              </a:prstGeom>
            </p:spPr>
            <p:txBody>
              <a:bodyPr lIns="47320" tIns="47320" rIns="47320" bIns="4732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5810273" y="390515"/>
              <a:ext cx="5055099" cy="6490873"/>
              <a:chOff x="0" y="0"/>
              <a:chExt cx="780108" cy="1001678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780108" cy="1001678"/>
              </a:xfrm>
              <a:custGeom>
                <a:avLst/>
                <a:gdLst/>
                <a:ahLst/>
                <a:cxnLst/>
                <a:rect l="l" t="t" r="r" b="b"/>
                <a:pathLst>
                  <a:path w="780108" h="1001678">
                    <a:moveTo>
                      <a:pt x="19144" y="0"/>
                    </a:moveTo>
                    <a:lnTo>
                      <a:pt x="760964" y="0"/>
                    </a:lnTo>
                    <a:cubicBezTo>
                      <a:pt x="771537" y="0"/>
                      <a:pt x="780108" y="8571"/>
                      <a:pt x="780108" y="19144"/>
                    </a:cubicBezTo>
                    <a:lnTo>
                      <a:pt x="780108" y="982534"/>
                    </a:lnTo>
                    <a:cubicBezTo>
                      <a:pt x="780108" y="993107"/>
                      <a:pt x="771537" y="1001678"/>
                      <a:pt x="760964" y="1001678"/>
                    </a:cubicBezTo>
                    <a:lnTo>
                      <a:pt x="19144" y="1001678"/>
                    </a:lnTo>
                    <a:cubicBezTo>
                      <a:pt x="8571" y="1001678"/>
                      <a:pt x="0" y="993107"/>
                      <a:pt x="0" y="982534"/>
                    </a:cubicBezTo>
                    <a:lnTo>
                      <a:pt x="0" y="19144"/>
                    </a:lnTo>
                    <a:cubicBezTo>
                      <a:pt x="0" y="8571"/>
                      <a:pt x="8571" y="0"/>
                      <a:pt x="19144" y="0"/>
                    </a:cubicBezTo>
                    <a:close/>
                  </a:path>
                </a:pathLst>
              </a:custGeom>
              <a:solidFill>
                <a:srgbClr val="111722"/>
              </a:solidFill>
              <a:ln w="38100" cap="sq">
                <a:solidFill>
                  <a:srgbClr val="111722"/>
                </a:solidFill>
                <a:prstDash val="solid"/>
                <a:miter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0" y="-47625"/>
                <a:ext cx="780108" cy="10493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255267" y="5017988"/>
              <a:ext cx="2410563" cy="719221"/>
              <a:chOff x="0" y="0"/>
              <a:chExt cx="372000" cy="11099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372000" cy="110991"/>
              </a:xfrm>
              <a:custGeom>
                <a:avLst/>
                <a:gdLst/>
                <a:ahLst/>
                <a:cxnLst/>
                <a:rect l="l" t="t" r="r" b="b"/>
                <a:pathLst>
                  <a:path w="372000" h="110991">
                    <a:moveTo>
                      <a:pt x="40146" y="0"/>
                    </a:moveTo>
                    <a:lnTo>
                      <a:pt x="331855" y="0"/>
                    </a:lnTo>
                    <a:cubicBezTo>
                      <a:pt x="354027" y="0"/>
                      <a:pt x="372000" y="17974"/>
                      <a:pt x="372000" y="40146"/>
                    </a:cubicBezTo>
                    <a:lnTo>
                      <a:pt x="372000" y="70845"/>
                    </a:lnTo>
                    <a:cubicBezTo>
                      <a:pt x="372000" y="93017"/>
                      <a:pt x="354027" y="110991"/>
                      <a:pt x="331855" y="110991"/>
                    </a:cubicBezTo>
                    <a:lnTo>
                      <a:pt x="40146" y="110991"/>
                    </a:lnTo>
                    <a:cubicBezTo>
                      <a:pt x="17974" y="110991"/>
                      <a:pt x="0" y="93017"/>
                      <a:pt x="0" y="70845"/>
                    </a:cubicBezTo>
                    <a:lnTo>
                      <a:pt x="0" y="40146"/>
                    </a:lnTo>
                    <a:cubicBezTo>
                      <a:pt x="0" y="17974"/>
                      <a:pt x="17974" y="0"/>
                      <a:pt x="40146" y="0"/>
                    </a:cubicBezTo>
                    <a:close/>
                  </a:path>
                </a:pathLst>
              </a:custGeom>
              <a:solidFill>
                <a:srgbClr val="FF8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0" y="-47625"/>
                <a:ext cx="372000" cy="1586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sp>
          <p:nvSpPr>
            <p:cNvPr id="62" name="AutoShape 62"/>
            <p:cNvSpPr/>
            <p:nvPr/>
          </p:nvSpPr>
          <p:spPr>
            <a:xfrm>
              <a:off x="7873184" y="5390299"/>
              <a:ext cx="283685" cy="0"/>
            </a:xfrm>
            <a:prstGeom prst="line">
              <a:avLst/>
            </a:prstGeom>
            <a:ln w="25400" cap="flat">
              <a:solidFill>
                <a:srgbClr val="FFFFFF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296532" y="6360746"/>
              <a:ext cx="610064" cy="250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61"/>
                </a:lnSpc>
                <a:spcBef>
                  <a:spcPct val="0"/>
                </a:spcBef>
              </a:pPr>
              <a:r>
                <a:rPr lang="en-US" sz="1217" spc="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&lt; 01</a:t>
              </a:r>
            </a:p>
          </p:txBody>
        </p:sp>
        <p:sp>
          <p:nvSpPr>
            <p:cNvPr id="64" name="AutoShape 64"/>
            <p:cNvSpPr/>
            <p:nvPr/>
          </p:nvSpPr>
          <p:spPr>
            <a:xfrm flipV="1">
              <a:off x="3857333" y="6490922"/>
              <a:ext cx="1130881" cy="0"/>
            </a:xfrm>
            <a:prstGeom prst="line">
              <a:avLst/>
            </a:prstGeom>
            <a:ln w="25400" cap="rnd">
              <a:solidFill>
                <a:srgbClr val="FFFFFF">
                  <a:alpha val="27843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5045" y="8282819"/>
              <a:ext cx="2523404" cy="27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400" b="1" spc="9">
                  <a:solidFill>
                    <a:srgbClr val="212D4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Customer Experience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229084" y="8282819"/>
              <a:ext cx="2523404" cy="27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400" b="1" spc="9">
                  <a:solidFill>
                    <a:srgbClr val="212D4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Concessions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40652" y="8282819"/>
              <a:ext cx="2523404" cy="27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400" b="1" spc="9">
                  <a:solidFill>
                    <a:srgbClr val="212D4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Costs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40652" y="8796708"/>
              <a:ext cx="2523404" cy="1216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spcBef>
                  <a:spcPct val="0"/>
                </a:spcBef>
              </a:pPr>
              <a:r>
                <a:rPr lang="en-US" sz="1200" b="1" spc="8">
                  <a:solidFill>
                    <a:srgbClr val="212D4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Despite record sales figures, shipping costs spiralled out of control, and there is a backlog of items to reprocess.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229084" y="8796708"/>
              <a:ext cx="2523404" cy="1216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spcBef>
                  <a:spcPct val="0"/>
                </a:spcBef>
              </a:pPr>
              <a:r>
                <a:rPr lang="en-US" sz="1200" b="1" spc="8">
                  <a:solidFill>
                    <a:srgbClr val="212D4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The customer support team has been inundated with calls about damaged items with people demanding refunds. 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5045" y="8796708"/>
              <a:ext cx="2729706" cy="1216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spcBef>
                  <a:spcPct val="0"/>
                </a:spcBef>
              </a:pPr>
              <a:r>
                <a:rPr lang="en-US" sz="1200" spc="8">
                  <a:solidFill>
                    <a:srgbClr val="212D47"/>
                  </a:solidFill>
                  <a:latin typeface="Inter"/>
                  <a:ea typeface="Inter"/>
                  <a:cs typeface="Inter"/>
                  <a:sym typeface="Inter"/>
                </a:rPr>
                <a:t>Our aim is to put a smile on our customer’s faces. Instead, a high number of grotesque shipments left them scratching their heads. 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55267" y="1394811"/>
              <a:ext cx="1498370" cy="250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61"/>
                </a:lnSpc>
                <a:spcBef>
                  <a:spcPct val="0"/>
                </a:spcBef>
              </a:pPr>
              <a:r>
                <a:rPr lang="en-US" sz="1217" b="1" spc="8">
                  <a:solidFill>
                    <a:srgbClr val="FF8C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FALLOUT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320876" y="1832757"/>
              <a:ext cx="4074050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  <a:spcBef>
                  <a:spcPct val="0"/>
                </a:spcBef>
              </a:pPr>
              <a:r>
                <a:rPr lang="en-US" sz="1800" b="1" spc="126">
                  <a:solidFill>
                    <a:srgbClr val="FCFFF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All Statistics tell a Story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20876" y="2420132"/>
              <a:ext cx="3671986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61"/>
                </a:lnSpc>
                <a:spcBef>
                  <a:spcPct val="0"/>
                </a:spcBef>
              </a:pPr>
              <a:r>
                <a:rPr lang="en-US" sz="1217" spc="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and exceeding the box compliance tolerance has far-reaching real-world consequenses.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320876" y="3894360"/>
              <a:ext cx="3671986" cy="250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61"/>
                </a:lnSpc>
                <a:spcBef>
                  <a:spcPct val="0"/>
                </a:spcBef>
              </a:pPr>
              <a:r>
                <a:rPr lang="en-US" sz="1217" spc="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Let’s see what happened. 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10216" y="5247424"/>
              <a:ext cx="1041062" cy="250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61"/>
                </a:lnSpc>
                <a:spcBef>
                  <a:spcPct val="0"/>
                </a:spcBef>
              </a:pPr>
              <a:r>
                <a:rPr lang="en-US" sz="1217" spc="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Continue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154127" y="6360746"/>
              <a:ext cx="912796" cy="250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61"/>
                </a:lnSpc>
                <a:spcBef>
                  <a:spcPct val="0"/>
                </a:spcBef>
              </a:pPr>
              <a:r>
                <a:rPr lang="en-US" sz="1217" spc="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05 &gt;</a:t>
              </a: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624237" y="10254034"/>
              <a:ext cx="3121846" cy="2299354"/>
              <a:chOff x="0" y="0"/>
              <a:chExt cx="517196" cy="380934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517196" cy="380934"/>
              </a:xfrm>
              <a:custGeom>
                <a:avLst/>
                <a:gdLst/>
                <a:ahLst/>
                <a:cxnLst/>
                <a:rect l="l" t="t" r="r" b="b"/>
                <a:pathLst>
                  <a:path w="517196" h="380934">
                    <a:moveTo>
                      <a:pt x="30999" y="0"/>
                    </a:moveTo>
                    <a:lnTo>
                      <a:pt x="486197" y="0"/>
                    </a:lnTo>
                    <a:cubicBezTo>
                      <a:pt x="503317" y="0"/>
                      <a:pt x="517196" y="13879"/>
                      <a:pt x="517196" y="30999"/>
                    </a:cubicBezTo>
                    <a:lnTo>
                      <a:pt x="517196" y="349935"/>
                    </a:lnTo>
                    <a:cubicBezTo>
                      <a:pt x="517196" y="367055"/>
                      <a:pt x="503317" y="380934"/>
                      <a:pt x="486197" y="380934"/>
                    </a:cubicBezTo>
                    <a:lnTo>
                      <a:pt x="30999" y="380934"/>
                    </a:lnTo>
                    <a:cubicBezTo>
                      <a:pt x="22778" y="380934"/>
                      <a:pt x="14893" y="377668"/>
                      <a:pt x="9079" y="371854"/>
                    </a:cubicBezTo>
                    <a:cubicBezTo>
                      <a:pt x="3266" y="366041"/>
                      <a:pt x="0" y="358156"/>
                      <a:pt x="0" y="349935"/>
                    </a:cubicBezTo>
                    <a:lnTo>
                      <a:pt x="0" y="30999"/>
                    </a:lnTo>
                    <a:cubicBezTo>
                      <a:pt x="0" y="13879"/>
                      <a:pt x="13879" y="0"/>
                      <a:pt x="30999" y="0"/>
                    </a:cubicBezTo>
                    <a:close/>
                  </a:path>
                </a:pathLst>
              </a:custGeom>
              <a:solidFill>
                <a:srgbClr val="283755">
                  <a:alpha val="27843"/>
                </a:srgbClr>
              </a:solidFill>
              <a:ln w="38100" cap="sq">
                <a:solidFill>
                  <a:srgbClr val="23303F">
                    <a:alpha val="27843"/>
                  </a:srgbClr>
                </a:solidFill>
                <a:prstDash val="solid"/>
                <a:miter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0" y="-47625"/>
                <a:ext cx="517196" cy="428559"/>
              </a:xfrm>
              <a:prstGeom prst="rect">
                <a:avLst/>
              </a:prstGeom>
            </p:spPr>
            <p:txBody>
              <a:bodyPr lIns="47320" tIns="47320" rIns="47320" bIns="4732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4134768" y="10298651"/>
              <a:ext cx="3121846" cy="2254736"/>
              <a:chOff x="0" y="0"/>
              <a:chExt cx="517196" cy="373542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517196" cy="373542"/>
              </a:xfrm>
              <a:custGeom>
                <a:avLst/>
                <a:gdLst/>
                <a:ahLst/>
                <a:cxnLst/>
                <a:rect l="l" t="t" r="r" b="b"/>
                <a:pathLst>
                  <a:path w="517196" h="373542">
                    <a:moveTo>
                      <a:pt x="30999" y="0"/>
                    </a:moveTo>
                    <a:lnTo>
                      <a:pt x="486197" y="0"/>
                    </a:lnTo>
                    <a:cubicBezTo>
                      <a:pt x="503317" y="0"/>
                      <a:pt x="517196" y="13879"/>
                      <a:pt x="517196" y="30999"/>
                    </a:cubicBezTo>
                    <a:lnTo>
                      <a:pt x="517196" y="342543"/>
                    </a:lnTo>
                    <a:cubicBezTo>
                      <a:pt x="517196" y="350764"/>
                      <a:pt x="513930" y="358649"/>
                      <a:pt x="508117" y="364462"/>
                    </a:cubicBezTo>
                    <a:cubicBezTo>
                      <a:pt x="502303" y="370276"/>
                      <a:pt x="494418" y="373542"/>
                      <a:pt x="486197" y="373542"/>
                    </a:cubicBezTo>
                    <a:lnTo>
                      <a:pt x="30999" y="373542"/>
                    </a:lnTo>
                    <a:cubicBezTo>
                      <a:pt x="13879" y="373542"/>
                      <a:pt x="0" y="359663"/>
                      <a:pt x="0" y="342543"/>
                    </a:cubicBezTo>
                    <a:lnTo>
                      <a:pt x="0" y="30999"/>
                    </a:lnTo>
                    <a:cubicBezTo>
                      <a:pt x="0" y="13879"/>
                      <a:pt x="13879" y="0"/>
                      <a:pt x="30999" y="0"/>
                    </a:cubicBezTo>
                    <a:close/>
                  </a:path>
                </a:pathLst>
              </a:custGeom>
              <a:solidFill>
                <a:srgbClr val="283755">
                  <a:alpha val="27843"/>
                </a:srgbClr>
              </a:solidFill>
              <a:ln w="38100" cap="sq">
                <a:solidFill>
                  <a:srgbClr val="23303F">
                    <a:alpha val="27843"/>
                  </a:srgbClr>
                </a:solidFill>
                <a:prstDash val="solid"/>
                <a:miter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0" y="-47625"/>
                <a:ext cx="517196" cy="421167"/>
              </a:xfrm>
              <a:prstGeom prst="rect">
                <a:avLst/>
              </a:prstGeom>
            </p:spPr>
            <p:txBody>
              <a:bodyPr lIns="47320" tIns="47320" rIns="47320" bIns="4732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7639052" y="10277700"/>
              <a:ext cx="3121846" cy="2254736"/>
              <a:chOff x="0" y="0"/>
              <a:chExt cx="517196" cy="373542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517196" cy="373542"/>
              </a:xfrm>
              <a:custGeom>
                <a:avLst/>
                <a:gdLst/>
                <a:ahLst/>
                <a:cxnLst/>
                <a:rect l="l" t="t" r="r" b="b"/>
                <a:pathLst>
                  <a:path w="517196" h="373542">
                    <a:moveTo>
                      <a:pt x="30999" y="0"/>
                    </a:moveTo>
                    <a:lnTo>
                      <a:pt x="486197" y="0"/>
                    </a:lnTo>
                    <a:cubicBezTo>
                      <a:pt x="503317" y="0"/>
                      <a:pt x="517196" y="13879"/>
                      <a:pt x="517196" y="30999"/>
                    </a:cubicBezTo>
                    <a:lnTo>
                      <a:pt x="517196" y="342543"/>
                    </a:lnTo>
                    <a:cubicBezTo>
                      <a:pt x="517196" y="350764"/>
                      <a:pt x="513930" y="358649"/>
                      <a:pt x="508117" y="364462"/>
                    </a:cubicBezTo>
                    <a:cubicBezTo>
                      <a:pt x="502303" y="370276"/>
                      <a:pt x="494418" y="373542"/>
                      <a:pt x="486197" y="373542"/>
                    </a:cubicBezTo>
                    <a:lnTo>
                      <a:pt x="30999" y="373542"/>
                    </a:lnTo>
                    <a:cubicBezTo>
                      <a:pt x="13879" y="373542"/>
                      <a:pt x="0" y="359663"/>
                      <a:pt x="0" y="342543"/>
                    </a:cubicBezTo>
                    <a:lnTo>
                      <a:pt x="0" y="30999"/>
                    </a:lnTo>
                    <a:cubicBezTo>
                      <a:pt x="0" y="13879"/>
                      <a:pt x="13879" y="0"/>
                      <a:pt x="30999" y="0"/>
                    </a:cubicBezTo>
                    <a:close/>
                  </a:path>
                </a:pathLst>
              </a:custGeom>
              <a:solidFill>
                <a:srgbClr val="283755">
                  <a:alpha val="27843"/>
                </a:srgbClr>
              </a:solidFill>
              <a:ln w="38100" cap="sq">
                <a:solidFill>
                  <a:srgbClr val="23303F">
                    <a:alpha val="27843"/>
                  </a:srgbClr>
                </a:solidFill>
                <a:prstDash val="solid"/>
                <a:miter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0" y="-47625"/>
                <a:ext cx="517196" cy="421167"/>
              </a:xfrm>
              <a:prstGeom prst="rect">
                <a:avLst/>
              </a:prstGeom>
            </p:spPr>
            <p:txBody>
              <a:bodyPr lIns="47320" tIns="47320" rIns="47320" bIns="4732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6691" y="2873864"/>
            <a:ext cx="13154618" cy="6482067"/>
            <a:chOff x="0" y="0"/>
            <a:chExt cx="17539490" cy="864275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7539490" cy="5850167"/>
              <a:chOff x="0" y="0"/>
              <a:chExt cx="2706711" cy="90280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706712" cy="902804"/>
              </a:xfrm>
              <a:custGeom>
                <a:avLst/>
                <a:gdLst/>
                <a:ahLst/>
                <a:cxnLst/>
                <a:rect l="l" t="t" r="r" b="b"/>
                <a:pathLst>
                  <a:path w="2706712" h="902804">
                    <a:moveTo>
                      <a:pt x="5517" y="0"/>
                    </a:moveTo>
                    <a:lnTo>
                      <a:pt x="2701194" y="0"/>
                    </a:lnTo>
                    <a:cubicBezTo>
                      <a:pt x="2702657" y="0"/>
                      <a:pt x="2704061" y="581"/>
                      <a:pt x="2705096" y="1616"/>
                    </a:cubicBezTo>
                    <a:cubicBezTo>
                      <a:pt x="2706130" y="2651"/>
                      <a:pt x="2706712" y="4054"/>
                      <a:pt x="2706712" y="5517"/>
                    </a:cubicBezTo>
                    <a:lnTo>
                      <a:pt x="2706712" y="897286"/>
                    </a:lnTo>
                    <a:cubicBezTo>
                      <a:pt x="2706712" y="900333"/>
                      <a:pt x="2704241" y="902804"/>
                      <a:pt x="2701194" y="902804"/>
                    </a:cubicBezTo>
                    <a:lnTo>
                      <a:pt x="5517" y="902804"/>
                    </a:lnTo>
                    <a:cubicBezTo>
                      <a:pt x="4054" y="902804"/>
                      <a:pt x="2651" y="902222"/>
                      <a:pt x="1616" y="901187"/>
                    </a:cubicBezTo>
                    <a:cubicBezTo>
                      <a:pt x="581" y="900153"/>
                      <a:pt x="0" y="898749"/>
                      <a:pt x="0" y="897286"/>
                    </a:cubicBezTo>
                    <a:lnTo>
                      <a:pt x="0" y="5517"/>
                    </a:lnTo>
                    <a:cubicBezTo>
                      <a:pt x="0" y="4054"/>
                      <a:pt x="581" y="2651"/>
                      <a:pt x="1616" y="1616"/>
                    </a:cubicBezTo>
                    <a:cubicBezTo>
                      <a:pt x="2651" y="581"/>
                      <a:pt x="4054" y="0"/>
                      <a:pt x="55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83755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2706711" cy="9504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1580891" y="633503"/>
              <a:ext cx="1043537" cy="1043537"/>
            </a:xfrm>
            <a:custGeom>
              <a:avLst/>
              <a:gdLst/>
              <a:ahLst/>
              <a:cxnLst/>
              <a:rect l="l" t="t" r="r" b="b"/>
              <a:pathLst>
                <a:path w="1043537" h="1043537">
                  <a:moveTo>
                    <a:pt x="0" y="0"/>
                  </a:moveTo>
                  <a:lnTo>
                    <a:pt x="1043537" y="0"/>
                  </a:lnTo>
                  <a:lnTo>
                    <a:pt x="1043537" y="1043538"/>
                  </a:lnTo>
                  <a:lnTo>
                    <a:pt x="0" y="1043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29770" y="870093"/>
              <a:ext cx="345780" cy="570358"/>
            </a:xfrm>
            <a:custGeom>
              <a:avLst/>
              <a:gdLst/>
              <a:ahLst/>
              <a:cxnLst/>
              <a:rect l="l" t="t" r="r" b="b"/>
              <a:pathLst>
                <a:path w="345780" h="570358">
                  <a:moveTo>
                    <a:pt x="0" y="0"/>
                  </a:moveTo>
                  <a:lnTo>
                    <a:pt x="345780" y="0"/>
                  </a:lnTo>
                  <a:lnTo>
                    <a:pt x="345780" y="570358"/>
                  </a:lnTo>
                  <a:lnTo>
                    <a:pt x="0" y="570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580891" y="2359548"/>
              <a:ext cx="1043537" cy="1043537"/>
            </a:xfrm>
            <a:custGeom>
              <a:avLst/>
              <a:gdLst/>
              <a:ahLst/>
              <a:cxnLst/>
              <a:rect l="l" t="t" r="r" b="b"/>
              <a:pathLst>
                <a:path w="1043537" h="1043537">
                  <a:moveTo>
                    <a:pt x="0" y="0"/>
                  </a:moveTo>
                  <a:lnTo>
                    <a:pt x="1043537" y="0"/>
                  </a:lnTo>
                  <a:lnTo>
                    <a:pt x="1043537" y="1043537"/>
                  </a:lnTo>
                  <a:lnTo>
                    <a:pt x="0" y="1043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840468" y="2619125"/>
              <a:ext cx="524384" cy="524384"/>
            </a:xfrm>
            <a:custGeom>
              <a:avLst/>
              <a:gdLst/>
              <a:ahLst/>
              <a:cxnLst/>
              <a:rect l="l" t="t" r="r" b="b"/>
              <a:pathLst>
                <a:path w="524384" h="524384">
                  <a:moveTo>
                    <a:pt x="0" y="0"/>
                  </a:moveTo>
                  <a:lnTo>
                    <a:pt x="524384" y="0"/>
                  </a:lnTo>
                  <a:lnTo>
                    <a:pt x="524384" y="524384"/>
                  </a:lnTo>
                  <a:lnTo>
                    <a:pt x="0" y="524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580891" y="4088885"/>
              <a:ext cx="1043537" cy="1043537"/>
            </a:xfrm>
            <a:custGeom>
              <a:avLst/>
              <a:gdLst/>
              <a:ahLst/>
              <a:cxnLst/>
              <a:rect l="l" t="t" r="r" b="b"/>
              <a:pathLst>
                <a:path w="1043537" h="1043537">
                  <a:moveTo>
                    <a:pt x="0" y="0"/>
                  </a:moveTo>
                  <a:lnTo>
                    <a:pt x="1043537" y="0"/>
                  </a:lnTo>
                  <a:lnTo>
                    <a:pt x="1043537" y="1043538"/>
                  </a:lnTo>
                  <a:lnTo>
                    <a:pt x="0" y="1043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1844003" y="4303952"/>
              <a:ext cx="517313" cy="5574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8"/>
                </a:lnSpc>
              </a:pPr>
              <a:r>
                <a:rPr lang="en-US" sz="2477">
                  <a:solidFill>
                    <a:srgbClr val="FEFFFC"/>
                  </a:solidFill>
                  <a:latin typeface="Inter"/>
                  <a:ea typeface="Inter"/>
                  <a:cs typeface="Inter"/>
                  <a:sym typeface="Inter"/>
                </a:rPr>
                <a:t>Aa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21056" y="635878"/>
              <a:ext cx="385526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Mobile-first approach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21056" y="1103249"/>
              <a:ext cx="4759689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vertical stacking,, large touch targets and simplified navigation for smaller screens.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21056" y="2262217"/>
              <a:ext cx="385526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Clear progress tracking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21056" y="2729588"/>
              <a:ext cx="4548499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Overakl progress bar and module status help learners know where they stand.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21056" y="3979723"/>
              <a:ext cx="3569637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Visual hierarchy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21056" y="4447094"/>
              <a:ext cx="4759689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Stronger typography, contrast and imagery guide learners to what matters most.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0261696" y="633503"/>
              <a:ext cx="1043537" cy="1043537"/>
            </a:xfrm>
            <a:custGeom>
              <a:avLst/>
              <a:gdLst/>
              <a:ahLst/>
              <a:cxnLst/>
              <a:rect l="l" t="t" r="r" b="b"/>
              <a:pathLst>
                <a:path w="1043537" h="1043537">
                  <a:moveTo>
                    <a:pt x="0" y="0"/>
                  </a:moveTo>
                  <a:lnTo>
                    <a:pt x="1043537" y="0"/>
                  </a:lnTo>
                  <a:lnTo>
                    <a:pt x="1043537" y="1043538"/>
                  </a:lnTo>
                  <a:lnTo>
                    <a:pt x="0" y="1043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0517079" y="939742"/>
              <a:ext cx="532772" cy="431061"/>
            </a:xfrm>
            <a:custGeom>
              <a:avLst/>
              <a:gdLst/>
              <a:ahLst/>
              <a:cxnLst/>
              <a:rect l="l" t="t" r="r" b="b"/>
              <a:pathLst>
                <a:path w="532772" h="431061">
                  <a:moveTo>
                    <a:pt x="0" y="0"/>
                  </a:moveTo>
                  <a:lnTo>
                    <a:pt x="532772" y="0"/>
                  </a:lnTo>
                  <a:lnTo>
                    <a:pt x="532772" y="431060"/>
                  </a:lnTo>
                  <a:lnTo>
                    <a:pt x="0" y="431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0261696" y="2259842"/>
              <a:ext cx="1043537" cy="1043537"/>
            </a:xfrm>
            <a:custGeom>
              <a:avLst/>
              <a:gdLst/>
              <a:ahLst/>
              <a:cxnLst/>
              <a:rect l="l" t="t" r="r" b="b"/>
              <a:pathLst>
                <a:path w="1043537" h="1043537">
                  <a:moveTo>
                    <a:pt x="0" y="0"/>
                  </a:moveTo>
                  <a:lnTo>
                    <a:pt x="1043537" y="0"/>
                  </a:lnTo>
                  <a:lnTo>
                    <a:pt x="1043537" y="1043538"/>
                  </a:lnTo>
                  <a:lnTo>
                    <a:pt x="0" y="1043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0531385" y="2540990"/>
              <a:ext cx="504159" cy="481243"/>
            </a:xfrm>
            <a:custGeom>
              <a:avLst/>
              <a:gdLst/>
              <a:ahLst/>
              <a:cxnLst/>
              <a:rect l="l" t="t" r="r" b="b"/>
              <a:pathLst>
                <a:path w="504159" h="481243">
                  <a:moveTo>
                    <a:pt x="0" y="0"/>
                  </a:moveTo>
                  <a:lnTo>
                    <a:pt x="504159" y="0"/>
                  </a:lnTo>
                  <a:lnTo>
                    <a:pt x="504159" y="481242"/>
                  </a:lnTo>
                  <a:lnTo>
                    <a:pt x="0" y="481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10261696" y="3977349"/>
              <a:ext cx="1043537" cy="1043537"/>
            </a:xfrm>
            <a:custGeom>
              <a:avLst/>
              <a:gdLst/>
              <a:ahLst/>
              <a:cxnLst/>
              <a:rect l="l" t="t" r="r" b="b"/>
              <a:pathLst>
                <a:path w="1043537" h="1043537">
                  <a:moveTo>
                    <a:pt x="0" y="0"/>
                  </a:moveTo>
                  <a:lnTo>
                    <a:pt x="1043537" y="0"/>
                  </a:lnTo>
                  <a:lnTo>
                    <a:pt x="1043537" y="1043537"/>
                  </a:lnTo>
                  <a:lnTo>
                    <a:pt x="0" y="1043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0498014" y="4213667"/>
              <a:ext cx="570901" cy="570901"/>
            </a:xfrm>
            <a:custGeom>
              <a:avLst/>
              <a:gdLst/>
              <a:ahLst/>
              <a:cxnLst/>
              <a:rect l="l" t="t" r="r" b="b"/>
              <a:pathLst>
                <a:path w="570901" h="570901">
                  <a:moveTo>
                    <a:pt x="0" y="0"/>
                  </a:moveTo>
                  <a:lnTo>
                    <a:pt x="570901" y="0"/>
                  </a:lnTo>
                  <a:lnTo>
                    <a:pt x="570901" y="570901"/>
                  </a:lnTo>
                  <a:lnTo>
                    <a:pt x="0" y="570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4" name="Group 24"/>
            <p:cNvGrpSpPr/>
            <p:nvPr/>
          </p:nvGrpSpPr>
          <p:grpSpPr>
            <a:xfrm>
              <a:off x="0" y="6161652"/>
              <a:ext cx="17539490" cy="2481103"/>
              <a:chOff x="0" y="0"/>
              <a:chExt cx="2706711" cy="38288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706712" cy="382886"/>
              </a:xfrm>
              <a:custGeom>
                <a:avLst/>
                <a:gdLst/>
                <a:ahLst/>
                <a:cxnLst/>
                <a:rect l="l" t="t" r="r" b="b"/>
                <a:pathLst>
                  <a:path w="2706712" h="382886">
                    <a:moveTo>
                      <a:pt x="0" y="0"/>
                    </a:moveTo>
                    <a:lnTo>
                      <a:pt x="2706712" y="0"/>
                    </a:lnTo>
                    <a:lnTo>
                      <a:pt x="2706712" y="382886"/>
                    </a:lnTo>
                    <a:lnTo>
                      <a:pt x="0" y="382886"/>
                    </a:lnTo>
                    <a:close/>
                  </a:path>
                </a:pathLst>
              </a:custGeom>
              <a:solidFill>
                <a:srgbClr val="212D47"/>
              </a:solidFill>
              <a:ln w="19050" cap="sq">
                <a:solidFill>
                  <a:srgbClr val="283755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2706711" cy="4305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1580891" y="6764567"/>
              <a:ext cx="928810" cy="1114015"/>
            </a:xfrm>
            <a:custGeom>
              <a:avLst/>
              <a:gdLst/>
              <a:ahLst/>
              <a:cxnLst/>
              <a:rect l="l" t="t" r="r" b="b"/>
              <a:pathLst>
                <a:path w="928810" h="1114015">
                  <a:moveTo>
                    <a:pt x="0" y="0"/>
                  </a:moveTo>
                  <a:lnTo>
                    <a:pt x="928810" y="0"/>
                  </a:lnTo>
                  <a:lnTo>
                    <a:pt x="928810" y="1114015"/>
                  </a:lnTo>
                  <a:lnTo>
                    <a:pt x="0" y="1114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11584453" y="595403"/>
              <a:ext cx="4139912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Engaging Content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84453" y="1062774"/>
              <a:ext cx="4139912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Real imagery and storytelling create emotional connection and relevance.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84453" y="2221742"/>
              <a:ext cx="4139912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Consistent Navigation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84453" y="2689113"/>
              <a:ext cx="4139912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Sticky bottom navigation on mobile keeps key actions within easy reach.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84453" y="3939249"/>
              <a:ext cx="4139912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Accessible Design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84453" y="4406620"/>
              <a:ext cx="4139912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high contrasts, readable text icon support for better accessibility.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60267" y="6726467"/>
              <a:ext cx="4139912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Design Rationale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60267" y="7237020"/>
              <a:ext cx="11418957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The updated designs use vibrant Amazon-inspired branding, real imagery and a mobile-first approach to create an engaing, modern and accessible learning experience that drives understanding and action.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09035" y="1028700"/>
            <a:ext cx="14869929" cy="1452605"/>
            <a:chOff x="0" y="0"/>
            <a:chExt cx="19826573" cy="1936807"/>
          </a:xfrm>
        </p:grpSpPr>
        <p:sp>
          <p:nvSpPr>
            <p:cNvPr id="37" name="TextBox 37"/>
            <p:cNvSpPr txBox="1"/>
            <p:nvPr/>
          </p:nvSpPr>
          <p:spPr>
            <a:xfrm>
              <a:off x="0" y="369380"/>
              <a:ext cx="6294323" cy="392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67"/>
                </a:lnSpc>
              </a:pPr>
              <a:r>
                <a:rPr lang="en-US" sz="1972" b="1" spc="69">
                  <a:solidFill>
                    <a:srgbClr val="FF8C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MOBILE UX IMPROVEMENTS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764223" y="0"/>
              <a:ext cx="6294323" cy="854402"/>
              <a:chOff x="0" y="0"/>
              <a:chExt cx="6806213" cy="92388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6764223" y="1082405"/>
              <a:ext cx="6294323" cy="854402"/>
              <a:chOff x="0" y="0"/>
              <a:chExt cx="6806213" cy="923887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13532249" y="0"/>
              <a:ext cx="6294323" cy="854402"/>
              <a:chOff x="0" y="0"/>
              <a:chExt cx="6806213" cy="923887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13532249" y="1082405"/>
              <a:ext cx="6294323" cy="854402"/>
              <a:chOff x="0" y="0"/>
              <a:chExt cx="6806213" cy="92388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973203" y="248278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Responsive vertical learning flow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73203" y="1330683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Sticky progress tracker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741229" y="248278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Touch-friendly navigation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741229" y="1330683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Swipe-enabled interactions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0" y="1082405"/>
              <a:ext cx="6294323" cy="854402"/>
              <a:chOff x="0" y="0"/>
              <a:chExt cx="6806213" cy="923887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208980" y="1330683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Swipe-enabled interactions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88021" y="8069087"/>
            <a:ext cx="99986" cy="320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1864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346686" y="2915822"/>
            <a:ext cx="4317005" cy="3241033"/>
            <a:chOff x="0" y="0"/>
            <a:chExt cx="5756006" cy="4321378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1528480"/>
              <a:ext cx="5538839" cy="1590253"/>
              <a:chOff x="0" y="0"/>
              <a:chExt cx="854759" cy="24540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54759" cy="245409"/>
              </a:xfrm>
              <a:custGeom>
                <a:avLst/>
                <a:gdLst/>
                <a:ahLst/>
                <a:cxnLst/>
                <a:rect l="l" t="t" r="r" b="b"/>
                <a:pathLst>
                  <a:path w="854759" h="245409">
                    <a:moveTo>
                      <a:pt x="17472" y="0"/>
                    </a:moveTo>
                    <a:lnTo>
                      <a:pt x="837287" y="0"/>
                    </a:lnTo>
                    <a:cubicBezTo>
                      <a:pt x="846937" y="0"/>
                      <a:pt x="854759" y="7822"/>
                      <a:pt x="854759" y="17472"/>
                    </a:cubicBezTo>
                    <a:lnTo>
                      <a:pt x="854759" y="227938"/>
                    </a:lnTo>
                    <a:cubicBezTo>
                      <a:pt x="854759" y="232571"/>
                      <a:pt x="852918" y="237015"/>
                      <a:pt x="849642" y="240292"/>
                    </a:cubicBezTo>
                    <a:cubicBezTo>
                      <a:pt x="846365" y="243569"/>
                      <a:pt x="841921" y="245409"/>
                      <a:pt x="837287" y="245409"/>
                    </a:cubicBezTo>
                    <a:lnTo>
                      <a:pt x="17472" y="245409"/>
                    </a:lnTo>
                    <a:cubicBezTo>
                      <a:pt x="12838" y="245409"/>
                      <a:pt x="8394" y="243569"/>
                      <a:pt x="5117" y="240292"/>
                    </a:cubicBezTo>
                    <a:cubicBezTo>
                      <a:pt x="1841" y="237015"/>
                      <a:pt x="0" y="232571"/>
                      <a:pt x="0" y="227938"/>
                    </a:cubicBezTo>
                    <a:lnTo>
                      <a:pt x="0" y="17472"/>
                    </a:lnTo>
                    <a:cubicBezTo>
                      <a:pt x="0" y="12838"/>
                      <a:pt x="1841" y="8394"/>
                      <a:pt x="5117" y="5117"/>
                    </a:cubicBezTo>
                    <a:cubicBezTo>
                      <a:pt x="8394" y="1841"/>
                      <a:pt x="12838" y="0"/>
                      <a:pt x="174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202C46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854759" cy="2930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373661" y="1953569"/>
              <a:ext cx="740075" cy="740075"/>
            </a:xfrm>
            <a:custGeom>
              <a:avLst/>
              <a:gdLst/>
              <a:ahLst/>
              <a:cxnLst/>
              <a:rect l="l" t="t" r="r" b="b"/>
              <a:pathLst>
                <a:path w="740075" h="740075">
                  <a:moveTo>
                    <a:pt x="0" y="0"/>
                  </a:moveTo>
                  <a:lnTo>
                    <a:pt x="740075" y="0"/>
                  </a:lnTo>
                  <a:lnTo>
                    <a:pt x="740075" y="740075"/>
                  </a:lnTo>
                  <a:lnTo>
                    <a:pt x="0" y="740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4713374" y="2102842"/>
              <a:ext cx="441529" cy="441529"/>
            </a:xfrm>
            <a:custGeom>
              <a:avLst/>
              <a:gdLst/>
              <a:ahLst/>
              <a:cxnLst/>
              <a:rect l="l" t="t" r="r" b="b"/>
              <a:pathLst>
                <a:path w="441529" h="441529">
                  <a:moveTo>
                    <a:pt x="0" y="0"/>
                  </a:moveTo>
                  <a:lnTo>
                    <a:pt x="441528" y="0"/>
                  </a:lnTo>
                  <a:lnTo>
                    <a:pt x="441528" y="441528"/>
                  </a:lnTo>
                  <a:lnTo>
                    <a:pt x="0" y="441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flipH="1">
              <a:off x="4127746" y="2159749"/>
              <a:ext cx="196629" cy="327715"/>
            </a:xfrm>
            <a:custGeom>
              <a:avLst/>
              <a:gdLst/>
              <a:ahLst/>
              <a:cxnLst/>
              <a:rect l="l" t="t" r="r" b="b"/>
              <a:pathLst>
                <a:path w="196629" h="327715">
                  <a:moveTo>
                    <a:pt x="196629" y="0"/>
                  </a:moveTo>
                  <a:lnTo>
                    <a:pt x="0" y="0"/>
                  </a:lnTo>
                  <a:lnTo>
                    <a:pt x="0" y="327714"/>
                  </a:lnTo>
                  <a:lnTo>
                    <a:pt x="196629" y="327714"/>
                  </a:lnTo>
                  <a:lnTo>
                    <a:pt x="196629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402495" y="2445049"/>
              <a:ext cx="229949" cy="229949"/>
            </a:xfrm>
            <a:custGeom>
              <a:avLst/>
              <a:gdLst/>
              <a:ahLst/>
              <a:cxnLst/>
              <a:rect l="l" t="t" r="r" b="b"/>
              <a:pathLst>
                <a:path w="229949" h="229949">
                  <a:moveTo>
                    <a:pt x="0" y="0"/>
                  </a:moveTo>
                  <a:lnTo>
                    <a:pt x="229949" y="0"/>
                  </a:lnTo>
                  <a:lnTo>
                    <a:pt x="229949" y="229949"/>
                  </a:lnTo>
                  <a:lnTo>
                    <a:pt x="0" y="229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AutoShape 11"/>
            <p:cNvSpPr/>
            <p:nvPr/>
          </p:nvSpPr>
          <p:spPr>
            <a:xfrm flipV="1">
              <a:off x="1275495" y="2674998"/>
              <a:ext cx="0" cy="726365"/>
            </a:xfrm>
            <a:prstGeom prst="line">
              <a:avLst/>
            </a:prstGeom>
            <a:ln w="25400" cap="flat">
              <a:solidFill>
                <a:srgbClr val="FF8C00"/>
              </a:solidFill>
              <a:prstDash val="sysDot"/>
              <a:headEnd type="none" w="sm" len="sm"/>
              <a:tailEnd type="oval" w="lg" len="lg"/>
            </a:ln>
          </p:spPr>
        </p:sp>
        <p:sp>
          <p:nvSpPr>
            <p:cNvPr id="12" name="AutoShape 12"/>
            <p:cNvSpPr/>
            <p:nvPr/>
          </p:nvSpPr>
          <p:spPr>
            <a:xfrm flipV="1">
              <a:off x="4539108" y="2674998"/>
              <a:ext cx="0" cy="726365"/>
            </a:xfrm>
            <a:prstGeom prst="line">
              <a:avLst/>
            </a:prstGeom>
            <a:ln w="25400" cap="flat">
              <a:solidFill>
                <a:srgbClr val="FF8C00"/>
              </a:solidFill>
              <a:prstDash val="sysDot"/>
              <a:headEnd type="none" w="sm" len="sm"/>
              <a:tailEnd type="oval" w="lg" len="lg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45026" y="2447954"/>
              <a:ext cx="814005" cy="245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09"/>
                </a:lnSpc>
                <a:spcBef>
                  <a:spcPct val="0"/>
                </a:spcBef>
              </a:pPr>
              <a:r>
                <a:rPr lang="en-US" sz="1174">
                  <a:solidFill>
                    <a:srgbClr val="202C46"/>
                  </a:solidFill>
                  <a:latin typeface="Inter"/>
                  <a:ea typeface="Inter"/>
                  <a:cs typeface="Inter"/>
                  <a:sym typeface="Inter"/>
                </a:rPr>
                <a:t>8 min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2495" y="1975842"/>
              <a:ext cx="2331552" cy="27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  <a:spcBef>
                  <a:spcPct val="0"/>
                </a:spcBef>
              </a:pPr>
              <a:r>
                <a:rPr lang="en-US" sz="1399" b="1">
                  <a:solidFill>
                    <a:srgbClr val="202C4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Packaging types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89127" y="3762578"/>
              <a:ext cx="176688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  <a:spcBef>
                  <a:spcPct val="0"/>
                </a:spcBef>
              </a:pPr>
              <a:r>
                <a:rPr lang="en-US" sz="1399">
                  <a:solidFill>
                    <a:srgbClr val="202C46"/>
                  </a:solidFill>
                  <a:latin typeface="Inter"/>
                  <a:ea typeface="Inter"/>
                  <a:cs typeface="Inter"/>
                  <a:sym typeface="Inter"/>
                </a:rPr>
                <a:t>Progress Indicator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9055" y="3762578"/>
              <a:ext cx="176688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9"/>
                </a:lnSpc>
                <a:spcBef>
                  <a:spcPct val="0"/>
                </a:spcBef>
              </a:pPr>
              <a:r>
                <a:rPr lang="en-US" sz="1399">
                  <a:solidFill>
                    <a:srgbClr val="202C46"/>
                  </a:solidFill>
                  <a:latin typeface="Inter"/>
                  <a:ea typeface="Inter"/>
                  <a:cs typeface="Inter"/>
                  <a:sym typeface="Inter"/>
                </a:rPr>
                <a:t>Tap to open module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0"/>
              <a:ext cx="5619187" cy="960862"/>
              <a:chOff x="0" y="0"/>
              <a:chExt cx="867159" cy="14828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67159" cy="148281"/>
              </a:xfrm>
              <a:custGeom>
                <a:avLst/>
                <a:gdLst/>
                <a:ahLst/>
                <a:cxnLst/>
                <a:rect l="l" t="t" r="r" b="b"/>
                <a:pathLst>
                  <a:path w="867159" h="148281">
                    <a:moveTo>
                      <a:pt x="17222" y="0"/>
                    </a:moveTo>
                    <a:lnTo>
                      <a:pt x="849936" y="0"/>
                    </a:lnTo>
                    <a:cubicBezTo>
                      <a:pt x="859448" y="0"/>
                      <a:pt x="867159" y="7711"/>
                      <a:pt x="867159" y="17222"/>
                    </a:cubicBezTo>
                    <a:lnTo>
                      <a:pt x="867159" y="131059"/>
                    </a:lnTo>
                    <a:cubicBezTo>
                      <a:pt x="867159" y="135627"/>
                      <a:pt x="865344" y="140007"/>
                      <a:pt x="862114" y="143237"/>
                    </a:cubicBezTo>
                    <a:cubicBezTo>
                      <a:pt x="858884" y="146467"/>
                      <a:pt x="854504" y="148281"/>
                      <a:pt x="849936" y="148281"/>
                    </a:cubicBezTo>
                    <a:lnTo>
                      <a:pt x="17222" y="148281"/>
                    </a:lnTo>
                    <a:cubicBezTo>
                      <a:pt x="12654" y="148281"/>
                      <a:pt x="8274" y="146467"/>
                      <a:pt x="5044" y="143237"/>
                    </a:cubicBezTo>
                    <a:cubicBezTo>
                      <a:pt x="1814" y="140007"/>
                      <a:pt x="0" y="135627"/>
                      <a:pt x="0" y="131059"/>
                    </a:cubicBezTo>
                    <a:lnTo>
                      <a:pt x="0" y="17222"/>
                    </a:lnTo>
                    <a:cubicBezTo>
                      <a:pt x="0" y="12654"/>
                      <a:pt x="1814" y="8274"/>
                      <a:pt x="5044" y="5044"/>
                    </a:cubicBezTo>
                    <a:cubicBezTo>
                      <a:pt x="8274" y="1814"/>
                      <a:pt x="12654" y="0"/>
                      <a:pt x="172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202C46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867159" cy="1959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39357" y="256328"/>
              <a:ext cx="379702" cy="345055"/>
            </a:xfrm>
            <a:custGeom>
              <a:avLst/>
              <a:gdLst/>
              <a:ahLst/>
              <a:cxnLst/>
              <a:rect l="l" t="t" r="r" b="b"/>
              <a:pathLst>
                <a:path w="379702" h="345055">
                  <a:moveTo>
                    <a:pt x="0" y="0"/>
                  </a:moveTo>
                  <a:lnTo>
                    <a:pt x="379703" y="0"/>
                  </a:lnTo>
                  <a:lnTo>
                    <a:pt x="379703" y="345055"/>
                  </a:lnTo>
                  <a:lnTo>
                    <a:pt x="0" y="345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3234445" y="256328"/>
              <a:ext cx="409560" cy="345055"/>
            </a:xfrm>
            <a:custGeom>
              <a:avLst/>
              <a:gdLst/>
              <a:ahLst/>
              <a:cxnLst/>
              <a:rect l="l" t="t" r="r" b="b"/>
              <a:pathLst>
                <a:path w="409560" h="345055">
                  <a:moveTo>
                    <a:pt x="0" y="0"/>
                  </a:moveTo>
                  <a:lnTo>
                    <a:pt x="409560" y="0"/>
                  </a:lnTo>
                  <a:lnTo>
                    <a:pt x="409560" y="345055"/>
                  </a:lnTo>
                  <a:lnTo>
                    <a:pt x="0" y="345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4560703" y="256328"/>
              <a:ext cx="278632" cy="345055"/>
            </a:xfrm>
            <a:custGeom>
              <a:avLst/>
              <a:gdLst/>
              <a:ahLst/>
              <a:cxnLst/>
              <a:rect l="l" t="t" r="r" b="b"/>
              <a:pathLst>
                <a:path w="278632" h="345055">
                  <a:moveTo>
                    <a:pt x="0" y="0"/>
                  </a:moveTo>
                  <a:lnTo>
                    <a:pt x="278632" y="0"/>
                  </a:lnTo>
                  <a:lnTo>
                    <a:pt x="278632" y="345055"/>
                  </a:lnTo>
                  <a:lnTo>
                    <a:pt x="0" y="345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992243" y="256328"/>
              <a:ext cx="327802" cy="345055"/>
            </a:xfrm>
            <a:custGeom>
              <a:avLst/>
              <a:gdLst/>
              <a:ahLst/>
              <a:cxnLst/>
              <a:rect l="l" t="t" r="r" b="b"/>
              <a:pathLst>
                <a:path w="327802" h="345055">
                  <a:moveTo>
                    <a:pt x="0" y="0"/>
                  </a:moveTo>
                  <a:lnTo>
                    <a:pt x="327802" y="0"/>
                  </a:lnTo>
                  <a:lnTo>
                    <a:pt x="327802" y="345055"/>
                  </a:lnTo>
                  <a:lnTo>
                    <a:pt x="0" y="345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AutoShape 24"/>
            <p:cNvSpPr/>
            <p:nvPr/>
          </p:nvSpPr>
          <p:spPr>
            <a:xfrm>
              <a:off x="655441" y="935462"/>
              <a:ext cx="527454" cy="0"/>
            </a:xfrm>
            <a:prstGeom prst="line">
              <a:avLst/>
            </a:prstGeom>
            <a:ln w="50800" cap="rnd">
              <a:solidFill>
                <a:srgbClr val="FF8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5441" y="650947"/>
              <a:ext cx="527454" cy="167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0"/>
                </a:lnSpc>
                <a:spcBef>
                  <a:spcPct val="0"/>
                </a:spcBef>
              </a:pPr>
              <a:r>
                <a:rPr lang="en-US" sz="800">
                  <a:solidFill>
                    <a:srgbClr val="FF8C00"/>
                  </a:solidFill>
                  <a:latin typeface="Inter"/>
                  <a:ea typeface="Inter"/>
                  <a:cs typeface="Inter"/>
                  <a:sym typeface="Inter"/>
                </a:rPr>
                <a:t>Home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31519" y="650947"/>
              <a:ext cx="977320" cy="167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0"/>
                </a:lnSpc>
                <a:spcBef>
                  <a:spcPct val="0"/>
                </a:spcBef>
              </a:pPr>
              <a:r>
                <a:rPr lang="en-US" sz="800">
                  <a:solidFill>
                    <a:srgbClr val="FF8C00"/>
                  </a:solidFill>
                  <a:latin typeface="Inter"/>
                  <a:ea typeface="Inter"/>
                  <a:cs typeface="Inter"/>
                  <a:sym typeface="Inter"/>
                </a:rPr>
                <a:t>My Progress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57462" y="650947"/>
              <a:ext cx="695672" cy="167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0"/>
                </a:lnSpc>
                <a:spcBef>
                  <a:spcPct val="0"/>
                </a:spcBef>
              </a:pPr>
              <a:r>
                <a:rPr lang="en-US" sz="800">
                  <a:solidFill>
                    <a:srgbClr val="FF8C00"/>
                  </a:solidFill>
                  <a:latin typeface="Inter"/>
                  <a:ea typeface="Inter"/>
                  <a:cs typeface="Inter"/>
                  <a:sym typeface="Inter"/>
                </a:rPr>
                <a:t>Resources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36292" y="650947"/>
              <a:ext cx="527454" cy="167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0"/>
                </a:lnSpc>
                <a:spcBef>
                  <a:spcPct val="0"/>
                </a:spcBef>
              </a:pPr>
              <a:r>
                <a:rPr lang="en-US" sz="800">
                  <a:solidFill>
                    <a:srgbClr val="FF8C00"/>
                  </a:solidFill>
                  <a:latin typeface="Inter"/>
                  <a:ea typeface="Inter"/>
                  <a:cs typeface="Inter"/>
                  <a:sym typeface="Inter"/>
                </a:rPr>
                <a:t>Profile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4309" y="2915822"/>
            <a:ext cx="12541259" cy="6482067"/>
            <a:chOff x="0" y="0"/>
            <a:chExt cx="16721679" cy="8642755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6721679" cy="5850167"/>
              <a:chOff x="0" y="0"/>
              <a:chExt cx="2580506" cy="90280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580506" cy="902804"/>
              </a:xfrm>
              <a:custGeom>
                <a:avLst/>
                <a:gdLst/>
                <a:ahLst/>
                <a:cxnLst/>
                <a:rect l="l" t="t" r="r" b="b"/>
                <a:pathLst>
                  <a:path w="2580506" h="902804">
                    <a:moveTo>
                      <a:pt x="5787" y="0"/>
                    </a:moveTo>
                    <a:lnTo>
                      <a:pt x="2574719" y="0"/>
                    </a:lnTo>
                    <a:cubicBezTo>
                      <a:pt x="2576254" y="0"/>
                      <a:pt x="2577726" y="610"/>
                      <a:pt x="2578811" y="1695"/>
                    </a:cubicBezTo>
                    <a:cubicBezTo>
                      <a:pt x="2579896" y="2780"/>
                      <a:pt x="2580506" y="4252"/>
                      <a:pt x="2580506" y="5787"/>
                    </a:cubicBezTo>
                    <a:lnTo>
                      <a:pt x="2580506" y="897016"/>
                    </a:lnTo>
                    <a:cubicBezTo>
                      <a:pt x="2580506" y="900212"/>
                      <a:pt x="2577915" y="902804"/>
                      <a:pt x="2574719" y="902804"/>
                    </a:cubicBezTo>
                    <a:lnTo>
                      <a:pt x="5787" y="902804"/>
                    </a:lnTo>
                    <a:cubicBezTo>
                      <a:pt x="2591" y="902804"/>
                      <a:pt x="0" y="900212"/>
                      <a:pt x="0" y="897016"/>
                    </a:cubicBezTo>
                    <a:lnTo>
                      <a:pt x="0" y="5787"/>
                    </a:lnTo>
                    <a:cubicBezTo>
                      <a:pt x="0" y="2591"/>
                      <a:pt x="2591" y="0"/>
                      <a:pt x="57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283755"/>
                </a:solidFill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2580506" cy="9504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763080" y="633503"/>
              <a:ext cx="1043537" cy="1043537"/>
            </a:xfrm>
            <a:custGeom>
              <a:avLst/>
              <a:gdLst/>
              <a:ahLst/>
              <a:cxnLst/>
              <a:rect l="l" t="t" r="r" b="b"/>
              <a:pathLst>
                <a:path w="1043537" h="1043537">
                  <a:moveTo>
                    <a:pt x="0" y="0"/>
                  </a:moveTo>
                  <a:lnTo>
                    <a:pt x="1043538" y="0"/>
                  </a:lnTo>
                  <a:lnTo>
                    <a:pt x="1043538" y="1043538"/>
                  </a:lnTo>
                  <a:lnTo>
                    <a:pt x="0" y="1043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>
              <a:off x="763080" y="2359548"/>
              <a:ext cx="1043537" cy="1043537"/>
            </a:xfrm>
            <a:custGeom>
              <a:avLst/>
              <a:gdLst/>
              <a:ahLst/>
              <a:cxnLst/>
              <a:rect l="l" t="t" r="r" b="b"/>
              <a:pathLst>
                <a:path w="1043537" h="1043537">
                  <a:moveTo>
                    <a:pt x="0" y="0"/>
                  </a:moveTo>
                  <a:lnTo>
                    <a:pt x="1043538" y="0"/>
                  </a:lnTo>
                  <a:lnTo>
                    <a:pt x="1043538" y="1043537"/>
                  </a:lnTo>
                  <a:lnTo>
                    <a:pt x="0" y="1043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>
              <a:off x="763080" y="4088885"/>
              <a:ext cx="1043537" cy="1043537"/>
            </a:xfrm>
            <a:custGeom>
              <a:avLst/>
              <a:gdLst/>
              <a:ahLst/>
              <a:cxnLst/>
              <a:rect l="l" t="t" r="r" b="b"/>
              <a:pathLst>
                <a:path w="1043537" h="1043537">
                  <a:moveTo>
                    <a:pt x="0" y="0"/>
                  </a:moveTo>
                  <a:lnTo>
                    <a:pt x="1043538" y="0"/>
                  </a:lnTo>
                  <a:lnTo>
                    <a:pt x="1043538" y="1043538"/>
                  </a:lnTo>
                  <a:lnTo>
                    <a:pt x="0" y="1043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Freeform 36"/>
            <p:cNvSpPr/>
            <p:nvPr/>
          </p:nvSpPr>
          <p:spPr>
            <a:xfrm>
              <a:off x="9443885" y="633503"/>
              <a:ext cx="1043537" cy="1043537"/>
            </a:xfrm>
            <a:custGeom>
              <a:avLst/>
              <a:gdLst/>
              <a:ahLst/>
              <a:cxnLst/>
              <a:rect l="l" t="t" r="r" b="b"/>
              <a:pathLst>
                <a:path w="1043537" h="1043537">
                  <a:moveTo>
                    <a:pt x="0" y="0"/>
                  </a:moveTo>
                  <a:lnTo>
                    <a:pt x="1043538" y="0"/>
                  </a:lnTo>
                  <a:lnTo>
                    <a:pt x="1043538" y="1043538"/>
                  </a:lnTo>
                  <a:lnTo>
                    <a:pt x="0" y="1043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>
              <a:off x="9443885" y="2259842"/>
              <a:ext cx="1043537" cy="1043537"/>
            </a:xfrm>
            <a:custGeom>
              <a:avLst/>
              <a:gdLst/>
              <a:ahLst/>
              <a:cxnLst/>
              <a:rect l="l" t="t" r="r" b="b"/>
              <a:pathLst>
                <a:path w="1043537" h="1043537">
                  <a:moveTo>
                    <a:pt x="0" y="0"/>
                  </a:moveTo>
                  <a:lnTo>
                    <a:pt x="1043538" y="0"/>
                  </a:lnTo>
                  <a:lnTo>
                    <a:pt x="1043538" y="1043538"/>
                  </a:lnTo>
                  <a:lnTo>
                    <a:pt x="0" y="1043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9443885" y="3977349"/>
              <a:ext cx="1043537" cy="1043537"/>
            </a:xfrm>
            <a:custGeom>
              <a:avLst/>
              <a:gdLst/>
              <a:ahLst/>
              <a:cxnLst/>
              <a:rect l="l" t="t" r="r" b="b"/>
              <a:pathLst>
                <a:path w="1043537" h="1043537">
                  <a:moveTo>
                    <a:pt x="0" y="0"/>
                  </a:moveTo>
                  <a:lnTo>
                    <a:pt x="1043538" y="0"/>
                  </a:lnTo>
                  <a:lnTo>
                    <a:pt x="1043538" y="1043537"/>
                  </a:lnTo>
                  <a:lnTo>
                    <a:pt x="0" y="1043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9" name="Group 39"/>
            <p:cNvGrpSpPr/>
            <p:nvPr/>
          </p:nvGrpSpPr>
          <p:grpSpPr>
            <a:xfrm>
              <a:off x="0" y="6161652"/>
              <a:ext cx="16721679" cy="2481103"/>
              <a:chOff x="0" y="0"/>
              <a:chExt cx="2580506" cy="38288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2580506" cy="382886"/>
              </a:xfrm>
              <a:custGeom>
                <a:avLst/>
                <a:gdLst/>
                <a:ahLst/>
                <a:cxnLst/>
                <a:rect l="l" t="t" r="r" b="b"/>
                <a:pathLst>
                  <a:path w="2580506" h="382886">
                    <a:moveTo>
                      <a:pt x="0" y="0"/>
                    </a:moveTo>
                    <a:lnTo>
                      <a:pt x="2580506" y="0"/>
                    </a:lnTo>
                    <a:lnTo>
                      <a:pt x="2580506" y="382886"/>
                    </a:lnTo>
                    <a:lnTo>
                      <a:pt x="0" y="382886"/>
                    </a:lnTo>
                    <a:close/>
                  </a:path>
                </a:pathLst>
              </a:custGeom>
              <a:solidFill>
                <a:srgbClr val="212D47"/>
              </a:solidFill>
              <a:ln w="19050" cap="sq">
                <a:solidFill>
                  <a:srgbClr val="283755"/>
                </a:solidFill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2580506" cy="4305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1044715" y="891028"/>
              <a:ext cx="517313" cy="516020"/>
            </a:xfrm>
            <a:custGeom>
              <a:avLst/>
              <a:gdLst/>
              <a:ahLst/>
              <a:cxnLst/>
              <a:rect l="l" t="t" r="r" b="b"/>
              <a:pathLst>
                <a:path w="517313" h="516020">
                  <a:moveTo>
                    <a:pt x="0" y="0"/>
                  </a:moveTo>
                  <a:lnTo>
                    <a:pt x="517314" y="0"/>
                  </a:lnTo>
                  <a:lnTo>
                    <a:pt x="517314" y="516020"/>
                  </a:lnTo>
                  <a:lnTo>
                    <a:pt x="0" y="516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>
              <a:off x="1034560" y="2631028"/>
              <a:ext cx="500578" cy="500578"/>
            </a:xfrm>
            <a:custGeom>
              <a:avLst/>
              <a:gdLst/>
              <a:ahLst/>
              <a:cxnLst/>
              <a:rect l="l" t="t" r="r" b="b"/>
              <a:pathLst>
                <a:path w="500578" h="500578">
                  <a:moveTo>
                    <a:pt x="0" y="0"/>
                  </a:moveTo>
                  <a:lnTo>
                    <a:pt x="500578" y="0"/>
                  </a:lnTo>
                  <a:lnTo>
                    <a:pt x="500578" y="500578"/>
                  </a:lnTo>
                  <a:lnTo>
                    <a:pt x="0" y="500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>
              <a:off x="1123701" y="4298922"/>
              <a:ext cx="359342" cy="623465"/>
            </a:xfrm>
            <a:custGeom>
              <a:avLst/>
              <a:gdLst/>
              <a:ahLst/>
              <a:cxnLst/>
              <a:rect l="l" t="t" r="r" b="b"/>
              <a:pathLst>
                <a:path w="359342" h="623465">
                  <a:moveTo>
                    <a:pt x="0" y="0"/>
                  </a:moveTo>
                  <a:lnTo>
                    <a:pt x="359342" y="0"/>
                  </a:lnTo>
                  <a:lnTo>
                    <a:pt x="359342" y="623464"/>
                  </a:lnTo>
                  <a:lnTo>
                    <a:pt x="0" y="623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>
              <a:off x="9713574" y="902815"/>
              <a:ext cx="492447" cy="492447"/>
            </a:xfrm>
            <a:custGeom>
              <a:avLst/>
              <a:gdLst/>
              <a:ahLst/>
              <a:cxnLst/>
              <a:rect l="l" t="t" r="r" b="b"/>
              <a:pathLst>
                <a:path w="492447" h="492447">
                  <a:moveTo>
                    <a:pt x="0" y="0"/>
                  </a:moveTo>
                  <a:lnTo>
                    <a:pt x="492447" y="0"/>
                  </a:lnTo>
                  <a:lnTo>
                    <a:pt x="492447" y="492446"/>
                  </a:lnTo>
                  <a:lnTo>
                    <a:pt x="0" y="492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>
              <a:off x="9662956" y="2506156"/>
              <a:ext cx="605395" cy="550910"/>
            </a:xfrm>
            <a:custGeom>
              <a:avLst/>
              <a:gdLst/>
              <a:ahLst/>
              <a:cxnLst/>
              <a:rect l="l" t="t" r="r" b="b"/>
              <a:pathLst>
                <a:path w="605395" h="550910">
                  <a:moveTo>
                    <a:pt x="0" y="0"/>
                  </a:moveTo>
                  <a:lnTo>
                    <a:pt x="605396" y="0"/>
                  </a:lnTo>
                  <a:lnTo>
                    <a:pt x="605396" y="550910"/>
                  </a:lnTo>
                  <a:lnTo>
                    <a:pt x="0" y="550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>
              <a:off x="9731466" y="4257497"/>
              <a:ext cx="456663" cy="483241"/>
            </a:xfrm>
            <a:custGeom>
              <a:avLst/>
              <a:gdLst/>
              <a:ahLst/>
              <a:cxnLst/>
              <a:rect l="l" t="t" r="r" b="b"/>
              <a:pathLst>
                <a:path w="456663" h="483241">
                  <a:moveTo>
                    <a:pt x="0" y="0"/>
                  </a:moveTo>
                  <a:lnTo>
                    <a:pt x="456663" y="0"/>
                  </a:lnTo>
                  <a:lnTo>
                    <a:pt x="456663" y="483241"/>
                  </a:lnTo>
                  <a:lnTo>
                    <a:pt x="0" y="483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8" name="Group 48"/>
            <p:cNvGrpSpPr/>
            <p:nvPr/>
          </p:nvGrpSpPr>
          <p:grpSpPr>
            <a:xfrm>
              <a:off x="1044715" y="7312470"/>
              <a:ext cx="589285" cy="638026"/>
              <a:chOff x="0" y="0"/>
              <a:chExt cx="136027" cy="14727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36027" cy="147278"/>
              </a:xfrm>
              <a:custGeom>
                <a:avLst/>
                <a:gdLst/>
                <a:ahLst/>
                <a:cxnLst/>
                <a:rect l="l" t="t" r="r" b="b"/>
                <a:pathLst>
                  <a:path w="136027" h="147278">
                    <a:moveTo>
                      <a:pt x="68013" y="0"/>
                    </a:moveTo>
                    <a:lnTo>
                      <a:pt x="68013" y="0"/>
                    </a:lnTo>
                    <a:cubicBezTo>
                      <a:pt x="86052" y="0"/>
                      <a:pt x="103351" y="7166"/>
                      <a:pt x="116106" y="19921"/>
                    </a:cubicBezTo>
                    <a:cubicBezTo>
                      <a:pt x="128861" y="32676"/>
                      <a:pt x="136027" y="49975"/>
                      <a:pt x="136027" y="68013"/>
                    </a:cubicBezTo>
                    <a:lnTo>
                      <a:pt x="136027" y="79264"/>
                    </a:lnTo>
                    <a:cubicBezTo>
                      <a:pt x="136027" y="116827"/>
                      <a:pt x="105576" y="147278"/>
                      <a:pt x="68013" y="147278"/>
                    </a:cubicBezTo>
                    <a:lnTo>
                      <a:pt x="68013" y="147278"/>
                    </a:lnTo>
                    <a:cubicBezTo>
                      <a:pt x="30451" y="147278"/>
                      <a:pt x="0" y="116827"/>
                      <a:pt x="0" y="79264"/>
                    </a:cubicBezTo>
                    <a:lnTo>
                      <a:pt x="0" y="68013"/>
                    </a:lnTo>
                    <a:cubicBezTo>
                      <a:pt x="0" y="30451"/>
                      <a:pt x="30451" y="0"/>
                      <a:pt x="68013" y="0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CFDFD"/>
                </a:solidFill>
                <a:prstDash val="solid"/>
                <a:miter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47625"/>
                <a:ext cx="136027" cy="1949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806618" y="7312470"/>
              <a:ext cx="589285" cy="638026"/>
              <a:chOff x="0" y="0"/>
              <a:chExt cx="136027" cy="147278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36027" cy="147278"/>
              </a:xfrm>
              <a:custGeom>
                <a:avLst/>
                <a:gdLst/>
                <a:ahLst/>
                <a:cxnLst/>
                <a:rect l="l" t="t" r="r" b="b"/>
                <a:pathLst>
                  <a:path w="136027" h="147278">
                    <a:moveTo>
                      <a:pt x="68013" y="0"/>
                    </a:moveTo>
                    <a:lnTo>
                      <a:pt x="68013" y="0"/>
                    </a:lnTo>
                    <a:cubicBezTo>
                      <a:pt x="86052" y="0"/>
                      <a:pt x="103351" y="7166"/>
                      <a:pt x="116106" y="19921"/>
                    </a:cubicBezTo>
                    <a:cubicBezTo>
                      <a:pt x="128861" y="32676"/>
                      <a:pt x="136027" y="49975"/>
                      <a:pt x="136027" y="68013"/>
                    </a:cubicBezTo>
                    <a:lnTo>
                      <a:pt x="136027" y="79264"/>
                    </a:lnTo>
                    <a:cubicBezTo>
                      <a:pt x="136027" y="116827"/>
                      <a:pt x="105576" y="147278"/>
                      <a:pt x="68013" y="147278"/>
                    </a:cubicBezTo>
                    <a:lnTo>
                      <a:pt x="68013" y="147278"/>
                    </a:lnTo>
                    <a:cubicBezTo>
                      <a:pt x="30451" y="147278"/>
                      <a:pt x="0" y="116827"/>
                      <a:pt x="0" y="79264"/>
                    </a:cubicBezTo>
                    <a:lnTo>
                      <a:pt x="0" y="68013"/>
                    </a:lnTo>
                    <a:cubicBezTo>
                      <a:pt x="0" y="30451"/>
                      <a:pt x="30451" y="0"/>
                      <a:pt x="68013" y="0"/>
                    </a:cubicBezTo>
                    <a:close/>
                  </a:path>
                </a:pathLst>
              </a:custGeom>
              <a:solidFill>
                <a:srgbClr val="787F8A"/>
              </a:solidFill>
              <a:ln w="9525" cap="sq">
                <a:solidFill>
                  <a:srgbClr val="777F8A"/>
                </a:solidFill>
                <a:prstDash val="solid"/>
                <a:miter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47625"/>
                <a:ext cx="136027" cy="1949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2568520" y="7312470"/>
              <a:ext cx="589285" cy="638026"/>
              <a:chOff x="0" y="0"/>
              <a:chExt cx="136027" cy="14727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136027" cy="147278"/>
              </a:xfrm>
              <a:custGeom>
                <a:avLst/>
                <a:gdLst/>
                <a:ahLst/>
                <a:cxnLst/>
                <a:rect l="l" t="t" r="r" b="b"/>
                <a:pathLst>
                  <a:path w="136027" h="147278">
                    <a:moveTo>
                      <a:pt x="68013" y="0"/>
                    </a:moveTo>
                    <a:lnTo>
                      <a:pt x="68013" y="0"/>
                    </a:lnTo>
                    <a:cubicBezTo>
                      <a:pt x="86052" y="0"/>
                      <a:pt x="103351" y="7166"/>
                      <a:pt x="116106" y="19921"/>
                    </a:cubicBezTo>
                    <a:cubicBezTo>
                      <a:pt x="128861" y="32676"/>
                      <a:pt x="136027" y="49975"/>
                      <a:pt x="136027" y="68013"/>
                    </a:cubicBezTo>
                    <a:lnTo>
                      <a:pt x="136027" y="79264"/>
                    </a:lnTo>
                    <a:cubicBezTo>
                      <a:pt x="136027" y="116827"/>
                      <a:pt x="105576" y="147278"/>
                      <a:pt x="68013" y="147278"/>
                    </a:cubicBezTo>
                    <a:lnTo>
                      <a:pt x="68013" y="147278"/>
                    </a:lnTo>
                    <a:cubicBezTo>
                      <a:pt x="30451" y="147278"/>
                      <a:pt x="0" y="116827"/>
                      <a:pt x="0" y="79264"/>
                    </a:cubicBezTo>
                    <a:lnTo>
                      <a:pt x="0" y="68013"/>
                    </a:lnTo>
                    <a:cubicBezTo>
                      <a:pt x="0" y="30451"/>
                      <a:pt x="30451" y="0"/>
                      <a:pt x="68013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 w="9525" cap="sq">
                <a:solidFill>
                  <a:srgbClr val="FEFDFD"/>
                </a:solidFill>
                <a:prstDash val="solid"/>
                <a:miter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-47625"/>
                <a:ext cx="136027" cy="1949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3330422" y="7312470"/>
              <a:ext cx="589285" cy="638026"/>
              <a:chOff x="0" y="0"/>
              <a:chExt cx="136027" cy="14727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36027" cy="147278"/>
              </a:xfrm>
              <a:custGeom>
                <a:avLst/>
                <a:gdLst/>
                <a:ahLst/>
                <a:cxnLst/>
                <a:rect l="l" t="t" r="r" b="b"/>
                <a:pathLst>
                  <a:path w="136027" h="147278">
                    <a:moveTo>
                      <a:pt x="68013" y="0"/>
                    </a:moveTo>
                    <a:lnTo>
                      <a:pt x="68013" y="0"/>
                    </a:lnTo>
                    <a:cubicBezTo>
                      <a:pt x="86052" y="0"/>
                      <a:pt x="103351" y="7166"/>
                      <a:pt x="116106" y="19921"/>
                    </a:cubicBezTo>
                    <a:cubicBezTo>
                      <a:pt x="128861" y="32676"/>
                      <a:pt x="136027" y="49975"/>
                      <a:pt x="136027" y="68013"/>
                    </a:cubicBezTo>
                    <a:lnTo>
                      <a:pt x="136027" y="79264"/>
                    </a:lnTo>
                    <a:cubicBezTo>
                      <a:pt x="136027" y="116827"/>
                      <a:pt x="105576" y="147278"/>
                      <a:pt x="68013" y="147278"/>
                    </a:cubicBezTo>
                    <a:lnTo>
                      <a:pt x="68013" y="147278"/>
                    </a:lnTo>
                    <a:cubicBezTo>
                      <a:pt x="30451" y="147278"/>
                      <a:pt x="0" y="116827"/>
                      <a:pt x="0" y="79264"/>
                    </a:cubicBezTo>
                    <a:lnTo>
                      <a:pt x="0" y="68013"/>
                    </a:lnTo>
                    <a:cubicBezTo>
                      <a:pt x="0" y="30451"/>
                      <a:pt x="30451" y="0"/>
                      <a:pt x="68013" y="0"/>
                    </a:cubicBezTo>
                    <a:close/>
                  </a:path>
                </a:pathLst>
              </a:custGeom>
              <a:solidFill>
                <a:srgbClr val="FF8C00"/>
              </a:solidFill>
              <a:ln w="9525" cap="sq">
                <a:solidFill>
                  <a:srgbClr val="FF8C00"/>
                </a:solidFill>
                <a:prstDash val="solid"/>
                <a:miter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-47625"/>
                <a:ext cx="136027" cy="1949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4092324" y="7312470"/>
              <a:ext cx="589285" cy="638026"/>
              <a:chOff x="0" y="0"/>
              <a:chExt cx="136027" cy="147278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136027" cy="147278"/>
              </a:xfrm>
              <a:custGeom>
                <a:avLst/>
                <a:gdLst/>
                <a:ahLst/>
                <a:cxnLst/>
                <a:rect l="l" t="t" r="r" b="b"/>
                <a:pathLst>
                  <a:path w="136027" h="147278">
                    <a:moveTo>
                      <a:pt x="68013" y="0"/>
                    </a:moveTo>
                    <a:lnTo>
                      <a:pt x="68013" y="0"/>
                    </a:lnTo>
                    <a:cubicBezTo>
                      <a:pt x="86052" y="0"/>
                      <a:pt x="103351" y="7166"/>
                      <a:pt x="116106" y="19921"/>
                    </a:cubicBezTo>
                    <a:cubicBezTo>
                      <a:pt x="128861" y="32676"/>
                      <a:pt x="136027" y="49975"/>
                      <a:pt x="136027" y="68013"/>
                    </a:cubicBezTo>
                    <a:lnTo>
                      <a:pt x="136027" y="79264"/>
                    </a:lnTo>
                    <a:cubicBezTo>
                      <a:pt x="136027" y="116827"/>
                      <a:pt x="105576" y="147278"/>
                      <a:pt x="68013" y="147278"/>
                    </a:cubicBezTo>
                    <a:lnTo>
                      <a:pt x="68013" y="147278"/>
                    </a:lnTo>
                    <a:cubicBezTo>
                      <a:pt x="30451" y="147278"/>
                      <a:pt x="0" y="116827"/>
                      <a:pt x="0" y="79264"/>
                    </a:cubicBezTo>
                    <a:lnTo>
                      <a:pt x="0" y="68013"/>
                    </a:lnTo>
                    <a:cubicBezTo>
                      <a:pt x="0" y="30451"/>
                      <a:pt x="30451" y="0"/>
                      <a:pt x="68013" y="0"/>
                    </a:cubicBezTo>
                    <a:close/>
                  </a:path>
                </a:pathLst>
              </a:custGeom>
              <a:solidFill>
                <a:srgbClr val="618AD6"/>
              </a:solidFill>
              <a:ln w="9525" cap="sq">
                <a:solidFill>
                  <a:srgbClr val="618AD6"/>
                </a:solidFill>
                <a:prstDash val="solid"/>
                <a:miter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0" y="-47625"/>
                <a:ext cx="136027" cy="1949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4854226" y="7312470"/>
              <a:ext cx="589285" cy="638026"/>
              <a:chOff x="0" y="0"/>
              <a:chExt cx="136027" cy="147278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136027" cy="147278"/>
              </a:xfrm>
              <a:custGeom>
                <a:avLst/>
                <a:gdLst/>
                <a:ahLst/>
                <a:cxnLst/>
                <a:rect l="l" t="t" r="r" b="b"/>
                <a:pathLst>
                  <a:path w="136027" h="147278">
                    <a:moveTo>
                      <a:pt x="68013" y="0"/>
                    </a:moveTo>
                    <a:lnTo>
                      <a:pt x="68013" y="0"/>
                    </a:lnTo>
                    <a:cubicBezTo>
                      <a:pt x="86052" y="0"/>
                      <a:pt x="103351" y="7166"/>
                      <a:pt x="116106" y="19921"/>
                    </a:cubicBezTo>
                    <a:cubicBezTo>
                      <a:pt x="128861" y="32676"/>
                      <a:pt x="136027" y="49975"/>
                      <a:pt x="136027" y="68013"/>
                    </a:cubicBezTo>
                    <a:lnTo>
                      <a:pt x="136027" y="79264"/>
                    </a:lnTo>
                    <a:cubicBezTo>
                      <a:pt x="136027" y="116827"/>
                      <a:pt x="105576" y="147278"/>
                      <a:pt x="68013" y="147278"/>
                    </a:cubicBezTo>
                    <a:lnTo>
                      <a:pt x="68013" y="147278"/>
                    </a:lnTo>
                    <a:cubicBezTo>
                      <a:pt x="30451" y="147278"/>
                      <a:pt x="0" y="116827"/>
                      <a:pt x="0" y="79264"/>
                    </a:cubicBezTo>
                    <a:lnTo>
                      <a:pt x="0" y="68013"/>
                    </a:lnTo>
                    <a:cubicBezTo>
                      <a:pt x="0" y="30451"/>
                      <a:pt x="30451" y="0"/>
                      <a:pt x="68013" y="0"/>
                    </a:cubicBezTo>
                    <a:close/>
                  </a:path>
                </a:pathLst>
              </a:custGeom>
              <a:solidFill>
                <a:srgbClr val="38B449"/>
              </a:solidFill>
              <a:ln w="9525" cap="sq">
                <a:solidFill>
                  <a:srgbClr val="38B449"/>
                </a:solidFill>
                <a:prstDash val="solid"/>
                <a:miter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0" y="-47625"/>
                <a:ext cx="136027" cy="1949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60"/>
                  </a:lnSpc>
                </a:pPr>
                <a:endParaRPr/>
              </a:p>
            </p:txBody>
          </p:sp>
        </p:grpSp>
        <p:sp>
          <p:nvSpPr>
            <p:cNvPr id="66" name="Freeform 66"/>
            <p:cNvSpPr/>
            <p:nvPr/>
          </p:nvSpPr>
          <p:spPr>
            <a:xfrm>
              <a:off x="11910440" y="6950754"/>
              <a:ext cx="2589637" cy="902900"/>
            </a:xfrm>
            <a:custGeom>
              <a:avLst/>
              <a:gdLst/>
              <a:ahLst/>
              <a:cxnLst/>
              <a:rect l="l" t="t" r="r" b="b"/>
              <a:pathLst>
                <a:path w="2589637" h="902900">
                  <a:moveTo>
                    <a:pt x="0" y="0"/>
                  </a:moveTo>
                  <a:lnTo>
                    <a:pt x="2589638" y="0"/>
                  </a:lnTo>
                  <a:lnTo>
                    <a:pt x="2589638" y="902900"/>
                  </a:lnTo>
                  <a:lnTo>
                    <a:pt x="0" y="90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t="-23658" b="-39825"/>
              </a:stretch>
            </a:blipFill>
          </p:spPr>
        </p:sp>
        <p:sp>
          <p:nvSpPr>
            <p:cNvPr id="67" name="Freeform 67"/>
            <p:cNvSpPr/>
            <p:nvPr/>
          </p:nvSpPr>
          <p:spPr>
            <a:xfrm>
              <a:off x="14374240" y="7040666"/>
              <a:ext cx="1667507" cy="640615"/>
            </a:xfrm>
            <a:custGeom>
              <a:avLst/>
              <a:gdLst/>
              <a:ahLst/>
              <a:cxnLst/>
              <a:rect l="l" t="t" r="r" b="b"/>
              <a:pathLst>
                <a:path w="1667507" h="640615">
                  <a:moveTo>
                    <a:pt x="0" y="0"/>
                  </a:moveTo>
                  <a:lnTo>
                    <a:pt x="1667507" y="0"/>
                  </a:lnTo>
                  <a:lnTo>
                    <a:pt x="1667507" y="640615"/>
                  </a:lnTo>
                  <a:lnTo>
                    <a:pt x="0" y="640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98701" t="-49533" b="-57353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2303245" y="2729588"/>
              <a:ext cx="4548499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Progress bar fills smoothly to give feedback and motivation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303245" y="635878"/>
              <a:ext cx="385526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Soomth transitions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303245" y="1103249"/>
              <a:ext cx="4759689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Fade and slide transitions between modules and carousel slides.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303245" y="2262217"/>
              <a:ext cx="385526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Progress animations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303245" y="3979723"/>
              <a:ext cx="3569637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Microinteractions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303245" y="4447094"/>
              <a:ext cx="4759689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Buttons, cards and icons respond with subtle hover and tap states.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766642" y="595403"/>
              <a:ext cx="4139912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Animated statistics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766642" y="1062774"/>
              <a:ext cx="4139912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Numbers count up or highlight to draw attention to key metrics.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766642" y="2221742"/>
              <a:ext cx="4139912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Parallax effects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766642" y="2689113"/>
              <a:ext cx="4139912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Subtle background movement adds depth and immersion.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766642" y="3939249"/>
              <a:ext cx="4139912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loading stats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766642" y="4406620"/>
              <a:ext cx="4387074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Skeleton loaders and progress indicators keep the experience smooth. 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2242456" y="6726467"/>
              <a:ext cx="4139912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Design Rationale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175461" y="7332399"/>
              <a:ext cx="4139912" cy="641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Amazon Ember/ Inter</a:t>
              </a:r>
            </a:p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Clean, Modern and highly readable.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90884" y="6726467"/>
              <a:ext cx="4139912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sz="179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Typography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290884" y="7222330"/>
              <a:ext cx="765061" cy="751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Aa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602626" y="1028700"/>
            <a:ext cx="15082748" cy="1453053"/>
            <a:chOff x="0" y="0"/>
            <a:chExt cx="20110331" cy="1937404"/>
          </a:xfrm>
        </p:grpSpPr>
        <p:grpSp>
          <p:nvGrpSpPr>
            <p:cNvPr id="85" name="Group 85"/>
            <p:cNvGrpSpPr/>
            <p:nvPr/>
          </p:nvGrpSpPr>
          <p:grpSpPr>
            <a:xfrm>
              <a:off x="6805525" y="0"/>
              <a:ext cx="6294323" cy="854402"/>
              <a:chOff x="0" y="0"/>
              <a:chExt cx="6806213" cy="923887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87" name="Group 87"/>
            <p:cNvGrpSpPr/>
            <p:nvPr/>
          </p:nvGrpSpPr>
          <p:grpSpPr>
            <a:xfrm>
              <a:off x="6805525" y="1083002"/>
              <a:ext cx="6294323" cy="854402"/>
              <a:chOff x="0" y="0"/>
              <a:chExt cx="6806213" cy="923887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grpSp>
          <p:nvGrpSpPr>
            <p:cNvPr id="89" name="Group 89"/>
            <p:cNvGrpSpPr/>
            <p:nvPr/>
          </p:nvGrpSpPr>
          <p:grpSpPr>
            <a:xfrm>
              <a:off x="13816008" y="0"/>
              <a:ext cx="6294323" cy="854402"/>
              <a:chOff x="0" y="0"/>
              <a:chExt cx="6806213" cy="923887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7014505" y="248278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Hover and focus states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014505" y="1331280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Microinteractions for buttons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4024988" y="248278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Parallax imagery and onboarding motion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6461579" cy="88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2"/>
                </a:lnSpc>
              </a:pPr>
              <a:r>
                <a:rPr lang="en-US" sz="1972" b="1" spc="69">
                  <a:solidFill>
                    <a:srgbClr val="FF8C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ANIMATION &amp; INTERACTION SUGGESTIONS</a:t>
              </a:r>
            </a:p>
          </p:txBody>
        </p:sp>
        <p:grpSp>
          <p:nvGrpSpPr>
            <p:cNvPr id="95" name="Group 95"/>
            <p:cNvGrpSpPr/>
            <p:nvPr/>
          </p:nvGrpSpPr>
          <p:grpSpPr>
            <a:xfrm>
              <a:off x="13816008" y="1083002"/>
              <a:ext cx="6294323" cy="854402"/>
              <a:chOff x="0" y="0"/>
              <a:chExt cx="6806213" cy="923887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14024988" y="1331280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Animated progress completion</a:t>
              </a:r>
            </a:p>
          </p:txBody>
        </p:sp>
        <p:grpSp>
          <p:nvGrpSpPr>
            <p:cNvPr id="98" name="Group 98"/>
            <p:cNvGrpSpPr/>
            <p:nvPr/>
          </p:nvGrpSpPr>
          <p:grpSpPr>
            <a:xfrm>
              <a:off x="0" y="1075588"/>
              <a:ext cx="6294323" cy="854402"/>
              <a:chOff x="0" y="0"/>
              <a:chExt cx="6806213" cy="923887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6806169" cy="923798"/>
              </a:xfrm>
              <a:custGeom>
                <a:avLst/>
                <a:gdLst/>
                <a:ahLst/>
                <a:cxnLst/>
                <a:rect l="l" t="t" r="r" b="b"/>
                <a:pathLst>
                  <a:path w="6806169" h="923798">
                    <a:moveTo>
                      <a:pt x="0" y="153924"/>
                    </a:moveTo>
                    <a:cubicBezTo>
                      <a:pt x="0" y="68961"/>
                      <a:pt x="34339" y="0"/>
                      <a:pt x="76646" y="0"/>
                    </a:cubicBezTo>
                    <a:lnTo>
                      <a:pt x="6729523" y="0"/>
                    </a:lnTo>
                    <a:cubicBezTo>
                      <a:pt x="6771893" y="0"/>
                      <a:pt x="6806169" y="68961"/>
                      <a:pt x="6806169" y="153924"/>
                    </a:cubicBezTo>
                    <a:lnTo>
                      <a:pt x="6806169" y="769874"/>
                    </a:lnTo>
                    <a:cubicBezTo>
                      <a:pt x="6806169" y="854964"/>
                      <a:pt x="6771830" y="923798"/>
                      <a:pt x="6729523" y="923798"/>
                    </a:cubicBezTo>
                    <a:lnTo>
                      <a:pt x="76646" y="923798"/>
                    </a:lnTo>
                    <a:cubicBezTo>
                      <a:pt x="34339" y="923925"/>
                      <a:pt x="0" y="854964"/>
                      <a:pt x="0" y="769874"/>
                    </a:cubicBezTo>
                    <a:close/>
                  </a:path>
                </a:pathLst>
              </a:custGeom>
              <a:solidFill>
                <a:srgbClr val="202C46"/>
              </a:solidFill>
              <a:ln w="9525" cap="sq">
                <a:solidFill>
                  <a:srgbClr val="FF9900"/>
                </a:solidFill>
                <a:prstDash val="solid"/>
                <a:miter/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208980" y="1323866"/>
              <a:ext cx="5876363" cy="3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57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• Smooth screen transitions</a:t>
              </a:r>
            </a:p>
          </p:txBody>
        </p:sp>
      </p:grpSp>
      <p:sp>
        <p:nvSpPr>
          <p:cNvPr id="101" name="TextBox 101"/>
          <p:cNvSpPr txBox="1"/>
          <p:nvPr/>
        </p:nvSpPr>
        <p:spPr>
          <a:xfrm>
            <a:off x="13346686" y="6539012"/>
            <a:ext cx="324443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202C46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3346686" y="7016100"/>
            <a:ext cx="3912614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202C46"/>
                </a:solidFill>
                <a:latin typeface="Inter Medium"/>
                <a:ea typeface="Inter Medium"/>
                <a:cs typeface="Inter Medium"/>
                <a:sym typeface="Inter Medium"/>
              </a:rPr>
              <a:t>The redesign modernizes the Amazon Logistics learning experience by improving visual engagement, mobile usability, and interaction quality while maintaining enterprise-level clarity.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4716988" y="9131188"/>
            <a:ext cx="254231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202C46"/>
                </a:solidFill>
                <a:latin typeface="Inter Bold"/>
                <a:ea typeface="Inter Bold"/>
                <a:cs typeface="Inter Bold"/>
                <a:sym typeface="Inter Bold"/>
              </a:rPr>
              <a:t>Submitted by : </a:t>
            </a:r>
          </a:p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202C46"/>
                </a:solidFill>
                <a:latin typeface="Inter Bold"/>
                <a:ea typeface="Inter Bold"/>
                <a:cs typeface="Inter Bold"/>
                <a:sym typeface="Inter Bold"/>
              </a:rPr>
              <a:t>Ms. Niharika Sarkar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Custom</PresentationFormat>
  <Paragraphs>155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Inter Semi-Bold</vt:lpstr>
      <vt:lpstr>Calibri</vt:lpstr>
      <vt:lpstr>Inter</vt:lpstr>
      <vt:lpstr>Inter Medium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</dc:title>
  <cp:lastModifiedBy>Niharika Sarkar</cp:lastModifiedBy>
  <cp:revision>1</cp:revision>
  <dcterms:created xsi:type="dcterms:W3CDTF">2006-08-16T00:00:00Z</dcterms:created>
  <dcterms:modified xsi:type="dcterms:W3CDTF">2026-05-13T21:34:52Z</dcterms:modified>
  <dc:identifier>DAHJiFzMaH0</dc:identifier>
</cp:coreProperties>
</file>